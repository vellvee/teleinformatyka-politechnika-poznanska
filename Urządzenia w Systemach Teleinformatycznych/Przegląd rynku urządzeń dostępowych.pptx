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9144000"/>
  <p:notesSz cx="6858000" cy="9144000"/>
  <p:embeddedFontLst>
    <p:embeddedFont>
      <p:font typeface="Nunit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Nunito-bold.fntdata"/><Relationship Id="rId52" Type="http://schemas.openxmlformats.org/officeDocument/2006/relationships/font" Target="fonts/Nunito-regular.fntdata"/><Relationship Id="rId11" Type="http://schemas.openxmlformats.org/officeDocument/2006/relationships/slide" Target="slides/slide6.xml"/><Relationship Id="rId55" Type="http://schemas.openxmlformats.org/officeDocument/2006/relationships/font" Target="fonts/Nunito-boldItalic.fntdata"/><Relationship Id="rId10" Type="http://schemas.openxmlformats.org/officeDocument/2006/relationships/slide" Target="slides/slide5.xml"/><Relationship Id="rId54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ping-test.pl/co_to_jest_dsl" TargetMode="External"/><Relationship Id="rId3" Type="http://schemas.openxmlformats.org/officeDocument/2006/relationships/hyperlink" Target="https://allegro.pl/artykul/router-adsl-czy-dsl-xGgEWW623uY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home.agh.edu.pl/~opal/sieci/wyklady/9-wifi.pdf" TargetMode="External"/><Relationship Id="rId3" Type="http://schemas.openxmlformats.org/officeDocument/2006/relationships/hyperlink" Target="http://www.komputerswiat.pl/jak-to-dziala/2015/06/standardy-wifi.aspx" TargetMode="External"/><Relationship Id="rId4" Type="http://schemas.openxmlformats.org/officeDocument/2006/relationships/hyperlink" Target="http://www.komputerswiat.pl/jak-to-dziala/2015/06/standardy-wifi,2.aspx" TargetMode="External"/><Relationship Id="rId5" Type="http://schemas.openxmlformats.org/officeDocument/2006/relationships/hyperlink" Target="https://www.pcformat.pl/Test-wydajnych-routerow---w-nowym-standardzie,a,3422" TargetMode="External"/><Relationship Id="rId6" Type="http://schemas.openxmlformats.org/officeDocument/2006/relationships/hyperlink" Target="https://www.komputronik.pl/informacje/jaki-router-wifi-10-porad/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ping-test.pl/co_to_jest_dsl" TargetMode="External"/><Relationship Id="rId3" Type="http://schemas.openxmlformats.org/officeDocument/2006/relationships/hyperlink" Target="https://allegro.pl/artykul/router-adsl-czy-dsl-xGgEWW623uY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morele.net/wiadomosc/jak-wybrac-tuner-tv-jaki-dekoder-dvb-t-jaki-najlepszy/565/" TargetMode="External"/><Relationship Id="rId3" Type="http://schemas.openxmlformats.org/officeDocument/2006/relationships/hyperlink" Target="https://www.jambox.pl/dekodery" TargetMode="External"/><Relationship Id="rId4" Type="http://schemas.openxmlformats.org/officeDocument/2006/relationships/hyperlink" Target="http://lisek.pl/?page_id=2641" TargetMode="External"/><Relationship Id="rId5" Type="http://schemas.openxmlformats.org/officeDocument/2006/relationships/hyperlink" Target="https://pl.wikipedia.org/wiki/Telewizja_kablowa" TargetMode="External"/><Relationship Id="rId6" Type="http://schemas.openxmlformats.org/officeDocument/2006/relationships/hyperlink" Target="https://pl.wikipedia.org/wiki/Telewizja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vbsklep.pl/tuner-satelitarny-dvb-s2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c33f9fa3_2_8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c33f9fa3_2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7ccf392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77ccf3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cfd5a9b_2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0cfd5a9b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0cfd5a9b_2_1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0cfd5a9b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c33f9fa3_0_9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c33f9fa3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Przydatne informacje o DSL </a:t>
            </a:r>
            <a:r>
              <a:rPr lang="pl" u="sng">
                <a:solidFill>
                  <a:schemeClr val="hlink"/>
                </a:solidFill>
                <a:hlinkClick r:id="rId2"/>
              </a:rPr>
              <a:t>http://ping-test.pl/co_to_jest_dsl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3"/>
              </a:rPr>
              <a:t>https://allegro.pl/artykul/router-adsl-czy-dsl-xGgEWW623uY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c33f9fa3_0_10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c33f9fa3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77ccf392_5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77ccf392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6956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77ccf392_4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77ccf392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77ccf392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77ccf39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  <a:highlight>
                <a:srgbClr val="FFFFFF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77ccf392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77ccf3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77ccf392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77ccf3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77ccf392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77ccf39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77ccf392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77ccf39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77ccf392_0_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77ccf39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77ccf392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77ccf39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77ccf392_6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77ccf392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0cfd5a9b_2_1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0cfd5a9b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85d00eac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85d00ea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85d00eac_1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85d00eac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85d00eac_1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85d00eac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77ccf392_6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77ccf392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0cfd5a9b_0_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0cfd5a9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NIE KASOWAĆ MOŻE SIE PRZYDAĆ!!!!!!!!!!!!!! okej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2"/>
              </a:rPr>
              <a:t>http://home.agh.edu.pl/~opal/sieci/wyklady/9-wifi.pdf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3"/>
              </a:rPr>
              <a:t>http://www.komputerswiat.pl/jak-to-dziala/2015/06/standardy-wifi.aspx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4"/>
              </a:rPr>
              <a:t>http://www.komputerswiat.pl/jak-to-dziala/2015/06/standardy-wifi,2.aspx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5"/>
              </a:rPr>
              <a:t>https://www.pcformat.pl/Test-wydajnych-routerow---w-nowym-standardzie,a,3422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6"/>
              </a:rPr>
              <a:t>https://www.komputronik.pl/informacje/jaki-router-wifi-10-porad/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0cfd5a9b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0cfd5a9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Mb/s megabity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0cfd5a9b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0cfd5a9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1217d043_1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1217d04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wzmacniacz pozwalaz rozszerzyc zasieg naszej sieci wi-fi podłaczamy go do gniazka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1217d043_1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1217d043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NIE KASOWAC!!!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333333"/>
                </a:solidFill>
                <a:highlight>
                  <a:srgbClr val="FFFFFF"/>
                </a:highlight>
              </a:rPr>
              <a:t>Router jest zgodny z IEEE802.16e WiMAX Wave -2005 2. 10/100 Base-T i zintegrowany z serwerem DHCP, co pozwala na łatwe podłączenie do dowolnego urządzenia za pomocą kabla Ethernet.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333333"/>
                </a:solidFill>
                <a:highlight>
                  <a:srgbClr val="FFFFFF"/>
                </a:highlight>
              </a:rPr>
              <a:t>trudno było te urzadzebia odszukacx dlatego nze nie sa ne swiadczone przez operatorów . jets to dosc drogie urzadzenie . odsługije tez siec wifi 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1217d043_4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1217d043_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1217d043_4_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1217d043_4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f78b098a_2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7f78b098a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Przydatne informacje o DSL </a:t>
            </a:r>
            <a:r>
              <a:rPr lang="pl" u="sng">
                <a:solidFill>
                  <a:schemeClr val="hlink"/>
                </a:solidFill>
                <a:hlinkClick r:id="rId2"/>
              </a:rPr>
              <a:t>http://ping-test.pl/co_to_jest_dsl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3"/>
              </a:rPr>
              <a:t>https://allegro.pl/artykul/router-adsl-czy-dsl-xGgEWW623uY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f78b098a_2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7f78b098a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f78b098a_2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7f78b098a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f78b098a_2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7f78b098a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f78b098a_2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7f78b098a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a6d87e05_0_10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a6d87e0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 Można powiedziec o standardach oraz aplikacjach na telefon która za pomoca bluetooth maja przełaczac programy w telewizorze.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standard bloothoht pozwala nam na tworzenie pikosieci . mozemy podłaczyc telefony zegarki telefony cziy komputery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a6d87e05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a6d87e0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a6d87e05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a6d87e0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a6d87e05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a6d87e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NIE KASOWAĆ!!!!!!!!!!!!!!!!!!!!!!!!!!!!!!!!!!!!!!!!!!!!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Tu zajrzec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2"/>
              </a:rPr>
              <a:t>https://www.morele.net/wiadomosc/jak-wybrac-tuner-tv-jaki-dekoder-dvb-t-jaki-najlepszy/565/</a:t>
            </a:r>
            <a:r>
              <a:rPr lang="pl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3"/>
              </a:rPr>
              <a:t>https://www.jambox.pl/dekodery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4"/>
              </a:rPr>
              <a:t>http://lisek.pl/?page_id=2641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50">
                <a:solidFill>
                  <a:srgbClr val="222222"/>
                </a:solidFill>
                <a:highlight>
                  <a:srgbClr val="FFFFFF"/>
                </a:highlight>
              </a:rPr>
              <a:t>JAMBOX Kablówka 3 Generacji</a:t>
            </a:r>
            <a:r>
              <a:rPr lang="pl" sz="1050">
                <a:solidFill>
                  <a:srgbClr val="222222"/>
                </a:solidFill>
                <a:highlight>
                  <a:srgbClr val="FFFFFF"/>
                </a:highlight>
              </a:rPr>
              <a:t> polska </a:t>
            </a:r>
            <a:r>
              <a:rPr lang="pl" sz="1050" u="sng">
                <a:solidFill>
                  <a:srgbClr val="0B0080"/>
                </a:solidFill>
                <a:highlight>
                  <a:srgbClr val="FFFFFF"/>
                </a:highlight>
                <a:hlinkClick r:id="rId5"/>
              </a:rPr>
              <a:t>kablowa</a:t>
            </a:r>
            <a:r>
              <a:rPr lang="pl" sz="1050">
                <a:solidFill>
                  <a:srgbClr val="222222"/>
                </a:solidFill>
                <a:highlight>
                  <a:srgbClr val="FFFFFF"/>
                </a:highlight>
              </a:rPr>
              <a:t> platforma </a:t>
            </a:r>
            <a:r>
              <a:rPr lang="pl" sz="1050" u="sng">
                <a:solidFill>
                  <a:srgbClr val="0B0080"/>
                </a:solidFill>
                <a:highlight>
                  <a:srgbClr val="FFFFFF"/>
                </a:highlight>
                <a:hlinkClick r:id="rId6"/>
              </a:rPr>
              <a:t>telewizyjna</a:t>
            </a:r>
            <a:r>
              <a:rPr lang="pl" sz="1050">
                <a:solidFill>
                  <a:srgbClr val="222222"/>
                </a:solidFill>
                <a:highlight>
                  <a:srgbClr val="FFFFFF"/>
                </a:highlight>
              </a:rPr>
              <a:t>,</a:t>
            </a:r>
            <a:endParaRPr sz="10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 sz="1400"/>
              <a:t>Nagrywarka PVR USB:</a:t>
            </a:r>
            <a:endParaRPr sz="10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900">
                <a:solidFill>
                  <a:srgbClr val="494949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Funkcja jest dostępna po podłączeniu własnego dysku USB.</a:t>
            </a:r>
            <a:endParaRPr sz="900">
              <a:solidFill>
                <a:srgbClr val="494949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900">
                <a:solidFill>
                  <a:srgbClr val="494949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Nagrywanie wybranych programów telewizyjnych jest niezależne od aktualnie oglądanego programu. Możesz oglądać program na jednym kanale i w tym samym czasie nagrać program nadawany na innym.</a:t>
            </a:r>
            <a:endParaRPr sz="900">
              <a:solidFill>
                <a:srgbClr val="494949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a6d87e05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ba6d87e0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l" sz="1200"/>
              <a:t>CO nowego w porównaniu z poprzednim ruterem: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l" sz="1200"/>
              <a:t>Nagrywanie czasowe/cykliczne: Tak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l" sz="1200"/>
              <a:t>Nagrywarka PVR USB:Tak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l" sz="1200"/>
              <a:t>wiecej pamieci FLASH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a6d87e05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a6d87e0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NIE KASOWAĆ !!!!!!!!!!!!!!!!!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hlink"/>
                </a:solidFill>
                <a:hlinkClick r:id="rId2"/>
              </a:rPr>
              <a:t>https://dvbsklep.pl/tuner-satelitarny-dvb-s2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Dekoder do telwizji satelitaornej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-dobry procesor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 USB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ma złacze ethernetowa czyli mozemy do niego połaczyc internet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a6d87e05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ba6d87e0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1217d043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c1217d0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1217d043_4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c1217d043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1217d043_4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c1217d043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1217d043_4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c1217d043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a6d87e05_0_1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ba6d87e0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-100"/>
            <a:ext cx="4085100" cy="27369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790"/>
            <a:ext cx="2250363" cy="1392365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790"/>
            <a:ext cx="2250363" cy="1392365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6784"/>
            <a:ext cx="1851282" cy="1002839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5623802"/>
            <a:ext cx="2389068" cy="123431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5407536"/>
            <a:ext cx="2795414" cy="1444382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2430444"/>
            <a:ext cx="5361300" cy="19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4550878"/>
            <a:ext cx="5361300" cy="6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3079200"/>
            <a:ext cx="4386900" cy="3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5281486"/>
            <a:ext cx="2910145" cy="1576482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3"/>
            <a:ext cx="2795414" cy="1444382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2328133"/>
            <a:ext cx="5377500" cy="21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2654300"/>
            <a:ext cx="36861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2654300"/>
            <a:ext cx="36861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1127467"/>
            <a:ext cx="3709200" cy="18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3092067"/>
            <a:ext cx="3709200" cy="28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3764192"/>
            <a:ext cx="7369200" cy="30891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2072150"/>
            <a:ext cx="5560500" cy="478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"/>
            <a:ext cx="2251347" cy="1391229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6029501"/>
            <a:ext cx="1593306" cy="822734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657"/>
            <a:ext cx="3257455" cy="1681990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734861"/>
            <a:ext cx="6366900" cy="338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1127467"/>
            <a:ext cx="6424200" cy="9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2067600"/>
            <a:ext cx="58599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3289400"/>
            <a:ext cx="58599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5551333"/>
            <a:ext cx="7415100" cy="8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3778767"/>
            <a:ext cx="3574800" cy="3079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5492768"/>
            <a:ext cx="2520952" cy="1365553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3"/>
            <a:ext cx="2795414" cy="1444382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845133"/>
            <a:ext cx="63723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3818467"/>
            <a:ext cx="63723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hyperlink" Target="https://www.euro.com.pl/slownik.bhtml?definitionId=265996876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adzetomania.pl/t/6249,telewizor" TargetMode="External"/><Relationship Id="rId4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png"/><Relationship Id="rId4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2430444"/>
            <a:ext cx="5361300" cy="19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Przegląd rynku urządzeń dostępowych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819150" y="109159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to są sieci dostępowe?</a:t>
            </a:r>
            <a:endParaRPr/>
          </a:p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/>
              <a:t>Sieci </a:t>
            </a:r>
            <a:r>
              <a:rPr lang="pl" sz="1400"/>
              <a:t>dostępowe</a:t>
            </a:r>
            <a:r>
              <a:rPr lang="pl" sz="1400"/>
              <a:t> </a:t>
            </a:r>
            <a:r>
              <a:rPr lang="pl" sz="1400"/>
              <a:t>są</a:t>
            </a:r>
            <a:r>
              <a:rPr lang="pl" sz="1400"/>
              <a:t> niezwykle ważnym elementem sieci telekomunikacyjnych,gdyż pozwalają na dostarczanie usług </a:t>
            </a:r>
            <a:r>
              <a:rPr lang="pl" sz="1400"/>
              <a:t>użytkownikowi</a:t>
            </a:r>
            <a:r>
              <a:rPr lang="pl" sz="1400"/>
              <a:t> końcowemu. Zarówno nowi, jak i również istniejący operatorzy mają obecnie do dyspozycji wiele technologii, które pozwalają na optymalne dostosowanie sieci </a:t>
            </a:r>
            <a:r>
              <a:rPr lang="pl" sz="1400"/>
              <a:t>dostępowych</a:t>
            </a:r>
            <a:r>
              <a:rPr lang="pl" sz="1400"/>
              <a:t> do wymogów rynku usług telekomunikacyjnych.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l" sz="1400"/>
              <a:t>W istniejących sieciach dostępowych abonenci </a:t>
            </a:r>
            <a:r>
              <a:rPr lang="pl" sz="1400"/>
              <a:t>podłączeni</a:t>
            </a:r>
            <a:r>
              <a:rPr lang="pl" sz="1400"/>
              <a:t> są do centrali lokalnej bez konieczności stosowania dodatkowych urządzeń komutacyjnych. 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to są sieci dostępowe?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Intranet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szybki dostęp do Internetu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wideokonferencje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nauczanie na </a:t>
            </a:r>
            <a:r>
              <a:rPr lang="pl" sz="1800"/>
              <a:t>odległość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łączenie sieci LAN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wideo na żądanie VOD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praca zdalna 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INTERNET - </a:t>
            </a:r>
            <a:r>
              <a:rPr lang="pl"/>
              <a:t>TELEWIZJA - TELEFON</a:t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875" y="2400374"/>
            <a:ext cx="2357701" cy="235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 rotWithShape="1">
          <a:blip r:embed="rId4">
            <a:alphaModFix/>
          </a:blip>
          <a:srcRect b="10214" l="21681" r="22352" t="10230"/>
          <a:stretch/>
        </p:blipFill>
        <p:spPr>
          <a:xfrm>
            <a:off x="3240750" y="2296112"/>
            <a:ext cx="2390887" cy="226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4925" y="2886650"/>
            <a:ext cx="2124226" cy="156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INTERNET</a:t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150" y="2322349"/>
            <a:ext cx="2357701" cy="235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 sieci dostępowych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Sieci przewodowe</a:t>
            </a:r>
            <a:endParaRPr sz="1800"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Przykłady: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DSL (Digital Subscriber Line) i jego odmiany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Sieci oparte na bazie infrastruktury energetycznej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FTTH (Fiber To The Home) lub FTTB </a:t>
            </a:r>
            <a:r>
              <a:rPr lang="pl" sz="1800"/>
              <a:t>(Fiber To The Building)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Routery xDSL</a:t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819150" y="2466025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l" sz="1800"/>
              <a:t>Digital Subscriber Line</a:t>
            </a:r>
            <a:r>
              <a:rPr lang="pl" sz="1800"/>
              <a:t> - </a:t>
            </a:r>
            <a:r>
              <a:rPr lang="pl" sz="1800"/>
              <a:t>technologia cyfrowego szerokopasmowego dostępu do Internetu. Standardowa maksymalna prędkość odbierania danych waha się od 8Mb/s do 52 Mb/s oraz od 1Mb/s do 5Mb/s dla prędkości wysyłania w zależności od stosowanej w danym kraju technologii DSL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819150" y="1127471"/>
            <a:ext cx="75057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Router klasy N300 z ADSL: Tp-Link </a:t>
            </a:r>
            <a:r>
              <a:rPr b="1" lang="pl" sz="1800"/>
              <a:t>TD-W8968</a:t>
            </a:r>
            <a:endParaRPr b="1" sz="1800"/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34873" l="24437" r="50934" t="25574"/>
          <a:stretch/>
        </p:blipFill>
        <p:spPr>
          <a:xfrm>
            <a:off x="929625" y="1951075"/>
            <a:ext cx="2631077" cy="237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165500" y="2107175"/>
            <a:ext cx="45558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pl"/>
              <a:t>Porty</a:t>
            </a:r>
            <a:r>
              <a:rPr lang="pl"/>
              <a:t>: RJ-11, 4x RJ-45</a:t>
            </a:r>
            <a:endParaRPr/>
          </a:p>
          <a:p>
            <a:pPr indent="-2952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pl"/>
              <a:t>Częstotliwość  pracy :  </a:t>
            </a:r>
            <a:r>
              <a:rPr lang="pl"/>
              <a:t>2.4 Ghz</a:t>
            </a:r>
            <a:endParaRPr/>
          </a:p>
          <a:p>
            <a:pPr indent="-2952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pl"/>
              <a:t>Maks. przepustowość  (Wi-Fi)</a:t>
            </a:r>
            <a:r>
              <a:rPr lang="pl"/>
              <a:t>: 300 Mb/s</a:t>
            </a:r>
            <a:endParaRPr b="1"/>
          </a:p>
          <a:p>
            <a:pPr indent="-2952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pl"/>
              <a:t>Maks. przepustowość  LAN</a:t>
            </a:r>
            <a:r>
              <a:rPr lang="pl"/>
              <a:t>: 100 Mb/s</a:t>
            </a:r>
            <a:endParaRPr/>
          </a:p>
          <a:p>
            <a:pPr indent="-2952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pl"/>
              <a:t>Porty USB</a:t>
            </a:r>
            <a:r>
              <a:rPr lang="pl"/>
              <a:t>: 1x USB 2.0</a:t>
            </a:r>
            <a:endParaRPr/>
          </a:p>
          <a:p>
            <a:pPr indent="-2952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pl"/>
              <a:t>Obsługa mobilnego dostępu  (3G/4G):</a:t>
            </a:r>
            <a:r>
              <a:rPr lang="pl"/>
              <a:t> tak (3G)</a:t>
            </a:r>
            <a:endParaRPr/>
          </a:p>
          <a:p>
            <a:pPr indent="-2952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pl"/>
              <a:t>Cena</a:t>
            </a:r>
            <a:r>
              <a:rPr lang="pl"/>
              <a:t>: ok. 140 zł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819150" y="9571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Gigabitowy, bezprzewodowy router/modem VDSL/ADSL,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Tp-Link </a:t>
            </a:r>
            <a:r>
              <a:rPr b="1" lang="pl" sz="1800"/>
              <a:t>Archer VR900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b="26894" l="13584" r="56891" t="27037"/>
          <a:stretch/>
        </p:blipFill>
        <p:spPr>
          <a:xfrm>
            <a:off x="729300" y="2113200"/>
            <a:ext cx="3026899" cy="26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4446500" y="1748125"/>
            <a:ext cx="4007100" cy="3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Prędkość</a:t>
            </a:r>
            <a:r>
              <a:rPr lang="pl"/>
              <a:t>: 1300 Mbps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Porty</a:t>
            </a:r>
            <a:r>
              <a:rPr lang="pl"/>
              <a:t>: 4 xRJ45,1x RJ11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Prędkość  ADSL</a:t>
            </a:r>
            <a:r>
              <a:rPr lang="pl"/>
              <a:t>: do 100Mbps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Porty USB</a:t>
            </a:r>
            <a:r>
              <a:rPr lang="pl"/>
              <a:t>:  2x USB 3.0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Obsługa mobilnego dostępu</a:t>
            </a:r>
            <a:r>
              <a:rPr lang="pl"/>
              <a:t> (3G/4G): tak (3G), tak (4G)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Antena</a:t>
            </a:r>
            <a:r>
              <a:rPr lang="pl"/>
              <a:t>: Zewnętrzna  dBi antena x 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Specjalne funkcje routera: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Kontrola rodzicielska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NAT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Mapowanie (grupowanie) portów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Funkcja Guest Network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Dodatki</a:t>
            </a:r>
            <a:r>
              <a:rPr lang="pl"/>
              <a:t>: aplikacja Tether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Cena: </a:t>
            </a:r>
            <a:r>
              <a:rPr lang="pl"/>
              <a:t>ok 600 zł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819150" y="7464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Dwuzakresowy modem i router Gigabit Wi-Fi AC1900 ADSL/VDSL Asus </a:t>
            </a:r>
            <a:r>
              <a:rPr b="1" lang="pl" sz="1800"/>
              <a:t>DSL-AC68U</a:t>
            </a:r>
            <a:endParaRPr b="1" sz="1800"/>
          </a:p>
        </p:txBody>
      </p:sp>
      <p:pic>
        <p:nvPicPr>
          <p:cNvPr id="186" name="Google Shape;186;p22"/>
          <p:cNvPicPr preferRelativeResize="0"/>
          <p:nvPr/>
        </p:nvPicPr>
        <p:blipFill rotWithShape="1">
          <a:blip r:embed="rId3">
            <a:alphaModFix/>
          </a:blip>
          <a:srcRect b="22271" l="50793" r="21998" t="21346"/>
          <a:stretch/>
        </p:blipFill>
        <p:spPr>
          <a:xfrm>
            <a:off x="1035425" y="1934800"/>
            <a:ext cx="2661826" cy="310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4572000" y="2019350"/>
            <a:ext cx="3817500" cy="3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Maks. przepustowość  Wi-Fi</a:t>
            </a:r>
            <a:r>
              <a:rPr lang="pl"/>
              <a:t>: 1900 Mbps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Porty</a:t>
            </a:r>
            <a:r>
              <a:rPr lang="pl"/>
              <a:t>: RJ-11, 4xRJ-45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Maks. przepustowość  DSL</a:t>
            </a:r>
            <a:r>
              <a:rPr lang="pl"/>
              <a:t>: 100 Mbps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Porty USB:</a:t>
            </a:r>
            <a:r>
              <a:rPr lang="pl"/>
              <a:t>  USB 3.0 x 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Obsługa mobilnego dostępu</a:t>
            </a:r>
            <a:r>
              <a:rPr lang="pl"/>
              <a:t> (3G/4G): tak (3G), tak (4G)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Antena</a:t>
            </a:r>
            <a:r>
              <a:rPr lang="pl"/>
              <a:t>: Zewnętrzna dBi antena x 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Specjalne funkcje routera</a:t>
            </a:r>
            <a:r>
              <a:rPr lang="pl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AiCloud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Kontrola rodzicielska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Download Master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Cena</a:t>
            </a:r>
            <a:r>
              <a:rPr lang="pl"/>
              <a:t>: ok. 860 zł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819150" y="5985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Sieci oparte na bazie infrastruktury energetycznej</a:t>
            </a:r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2061875"/>
            <a:ext cx="3963900" cy="29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5109875" y="2070850"/>
            <a:ext cx="3451500" cy="3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Wykorzystanie istniejącej infrastruktury energetycznej w budynkach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Prosta instalacja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HomePlug - standard opisujący specyfikację urządzeń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Łatwa dostępność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819150" y="5985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Sieci oparte na bazie infrastruktury energetycznej</a:t>
            </a:r>
            <a:endParaRPr/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50" y="2135125"/>
            <a:ext cx="2769698" cy="1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0475" y="2135137"/>
            <a:ext cx="2283025" cy="17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8500" y="2135137"/>
            <a:ext cx="2115676" cy="16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287" y="4104276"/>
            <a:ext cx="2283026" cy="179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3961" y="3923927"/>
            <a:ext cx="2376050" cy="19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28503" y="3946297"/>
            <a:ext cx="2115676" cy="2115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819150" y="5985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Zestaw gigabitowych transmiterów sieciowych z punktem dostępowym i gniazdkiem elektrycznym, AV1200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Tp-Link </a:t>
            </a:r>
            <a:r>
              <a:rPr b="1" lang="pl" sz="1800"/>
              <a:t>TL-WPA8630P KIT</a:t>
            </a:r>
            <a:endParaRPr b="1" sz="1800"/>
          </a:p>
        </p:txBody>
      </p:sp>
      <p:pic>
        <p:nvPicPr>
          <p:cNvPr id="211" name="Google Shape;2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800" y="2169625"/>
            <a:ext cx="3514199" cy="263863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3810000" y="1586750"/>
            <a:ext cx="4634700" cy="45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Najważniejsze  funkcje: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	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Dwupasmowa sieć bezprzewodowa </a:t>
            </a:r>
            <a:r>
              <a:rPr b="1" lang="pl"/>
              <a:t>AC1200</a:t>
            </a:r>
            <a:r>
              <a:rPr lang="pl"/>
              <a:t> – pozwala na osiągnięcie łącznej prędkości 1200Mb/s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Stan</a:t>
            </a:r>
            <a:r>
              <a:rPr b="1" lang="pl"/>
              <a:t>d</a:t>
            </a:r>
            <a:r>
              <a:rPr b="1" lang="pl"/>
              <a:t>ard HomePlug AV2</a:t>
            </a:r>
            <a:r>
              <a:rPr lang="pl"/>
              <a:t> – zapewnia prędkości transferu w sieci </a:t>
            </a:r>
            <a:r>
              <a:rPr lang="pl"/>
              <a:t>elektrycznej</a:t>
            </a:r>
            <a:r>
              <a:rPr lang="pl"/>
              <a:t> do 1200Mb/s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Wi-Fi Clone</a:t>
            </a:r>
            <a:r>
              <a:rPr lang="pl"/>
              <a:t> – Automatycznie kopiuje ustawienia sieci bezprzewodowej routera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Wi-Fi Auto-Sync </a:t>
            </a:r>
            <a:r>
              <a:rPr lang="pl"/>
              <a:t>– Pozwala na wygodne zarządzanie siecią bezprzewodową, </a:t>
            </a:r>
            <a:r>
              <a:rPr lang="pl"/>
              <a:t>wszystkie</a:t>
            </a:r>
            <a:r>
              <a:rPr lang="pl"/>
              <a:t> urządzenia będą synchronizowały swoje ustawienia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Podłącz, sparuj i korzystaj</a:t>
            </a:r>
            <a:r>
              <a:rPr lang="pl"/>
              <a:t> – Prosta instalacja pozwala cieszyć się szybkim połączeniem w kilka minut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Wbudowane gniazdko sieci elektrycznej umożliwia podłączenie do prądu dodatkowego urządzenia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819150" y="5985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Zestaw gigabitowych transmiterów sieciowych z punktem dostępowym i gniazdkiem elektrycznym, AV1200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TL-WPA8630P KIT</a:t>
            </a:r>
            <a:endParaRPr b="1" sz="1800"/>
          </a:p>
        </p:txBody>
      </p:sp>
      <p:pic>
        <p:nvPicPr>
          <p:cNvPr id="218" name="Google Shape;2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38" y="1763850"/>
            <a:ext cx="8247524" cy="387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819150" y="5985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FRITZ!Powerline 540E Set</a:t>
            </a:r>
            <a:endParaRPr b="1" sz="1800"/>
          </a:p>
        </p:txBody>
      </p:sp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75" y="1500475"/>
            <a:ext cx="3865517" cy="36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 txBox="1"/>
          <p:nvPr/>
        </p:nvSpPr>
        <p:spPr>
          <a:xfrm>
            <a:off x="4760250" y="1730175"/>
            <a:ext cx="38655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Powerline o prędkości do 500 Mbit/s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Punkt dostępowy WLAN wg IEEE 802.11b (11 Mbit/s), g (54 Mbit/s), n (300 Mbit/s) w zakresie częstotliwości 2,4 GHz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2 x Fast Ethernet (10/100 Base-T, gniazdo RJ45)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Łatwa konfiguracja w standardzie WPS (Wi-Fi Protected Setup)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Cena ok 369,00 zł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819150" y="5985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Zestaw startowy PowerLine AV 200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DHP‑309AV</a:t>
            </a:r>
            <a:endParaRPr b="1" sz="1800"/>
          </a:p>
        </p:txBody>
      </p:sp>
      <p:pic>
        <p:nvPicPr>
          <p:cNvPr id="231" name="Google Shape;231;p28"/>
          <p:cNvPicPr preferRelativeResize="0"/>
          <p:nvPr/>
        </p:nvPicPr>
        <p:blipFill rotWithShape="1">
          <a:blip r:embed="rId3">
            <a:alphaModFix/>
          </a:blip>
          <a:srcRect b="0" l="13019" r="15795" t="0"/>
          <a:stretch/>
        </p:blipFill>
        <p:spPr>
          <a:xfrm>
            <a:off x="819150" y="1506100"/>
            <a:ext cx="3576924" cy="33707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/>
        </p:nvSpPr>
        <p:spPr>
          <a:xfrm>
            <a:off x="4831975" y="1739150"/>
            <a:ext cx="3801000" cy="2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PowerLine:  maksymalna szybkość przesyłu — 200 Mb/s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Ethernet: 10/100 Mb/s (automatyczna negocjacja)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Zgodność ze standardem HomePlug AV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Niska cena - ok. 80 zł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858175" y="5421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Urządzenia FTTH i FTTB</a:t>
            </a:r>
            <a:endParaRPr/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263" y="1197350"/>
            <a:ext cx="3837525" cy="511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Urządzenia FTTH i FTTB </a:t>
            </a:r>
            <a:endParaRPr/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175" y="1879667"/>
            <a:ext cx="7333727" cy="4152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819150" y="5716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Netis </a:t>
            </a:r>
            <a:r>
              <a:rPr b="1" lang="pl" sz="1800"/>
              <a:t>GP8501G</a:t>
            </a:r>
            <a:endParaRPr b="1" sz="1800"/>
          </a:p>
        </p:txBody>
      </p:sp>
      <p:pic>
        <p:nvPicPr>
          <p:cNvPr id="250" name="Google Shape;250;p31"/>
          <p:cNvPicPr preferRelativeResize="0"/>
          <p:nvPr/>
        </p:nvPicPr>
        <p:blipFill rotWithShape="1">
          <a:blip r:embed="rId3">
            <a:alphaModFix/>
          </a:blip>
          <a:srcRect b="28061" l="0" r="0" t="26605"/>
          <a:stretch/>
        </p:blipFill>
        <p:spPr>
          <a:xfrm>
            <a:off x="739625" y="1844550"/>
            <a:ext cx="3322274" cy="18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/>
        </p:nvSpPr>
        <p:spPr>
          <a:xfrm>
            <a:off x="4298575" y="1961100"/>
            <a:ext cx="4105800" cy="1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Liczba portów LAN 10/100: Brak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Liczba portów LAN 10/100/1000: 1x RJ-45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Liczba portów USB: Brak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Obsługa sieci bezprzewodowej: Nie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Maksymalny dystans światłowodu 20 Km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Niska cena - 52,99 zł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819150" y="679221"/>
            <a:ext cx="75057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MikroTik </a:t>
            </a:r>
            <a:r>
              <a:rPr b="1" lang="pl" sz="1800"/>
              <a:t>MT RB2011iLS-IN</a:t>
            </a:r>
            <a:endParaRPr b="1" sz="1800"/>
          </a:p>
        </p:txBody>
      </p:sp>
      <p:sp>
        <p:nvSpPr>
          <p:cNvPr id="257" name="Google Shape;257;p32"/>
          <p:cNvSpPr txBox="1"/>
          <p:nvPr/>
        </p:nvSpPr>
        <p:spPr>
          <a:xfrm>
            <a:off x="4939599" y="2160500"/>
            <a:ext cx="3890700" cy="1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1x Gigabit SFP,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5x porty Gigabit Ethernet,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5x porty Fast Ethernet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Liczba portów USB: Brak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Obsługa sieci bezprzewodowej: Nie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Obsługa VPN: 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Procesor 600MHz; pamięć 64MB RAM</a:t>
            </a:r>
            <a:endParaRPr/>
          </a:p>
        </p:txBody>
      </p:sp>
      <p:pic>
        <p:nvPicPr>
          <p:cNvPr id="258" name="Google Shape;2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50" y="2389681"/>
            <a:ext cx="4607851" cy="79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819150" y="679221"/>
            <a:ext cx="75057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MikroTik Cloud Core Router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(1009-7G-1C-PC)</a:t>
            </a:r>
            <a:endParaRPr b="1" sz="1800"/>
          </a:p>
        </p:txBody>
      </p:sp>
      <p:sp>
        <p:nvSpPr>
          <p:cNvPr id="264" name="Google Shape;264;p33"/>
          <p:cNvSpPr txBox="1"/>
          <p:nvPr/>
        </p:nvSpPr>
        <p:spPr>
          <a:xfrm>
            <a:off x="4500313" y="2026000"/>
            <a:ext cx="4105800" cy="1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Liczba portów LAN 10/100/1000: 7 x RJ-45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Liczba portów USB: 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Obsługa sieci bezprzewodowej: Nie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Obsługa xDSL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Power over Ethernet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100Mbps SFP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Procesor - 1 GHz; pamięć 1 Gb</a:t>
            </a:r>
            <a:endParaRPr/>
          </a:p>
        </p:txBody>
      </p:sp>
      <p:pic>
        <p:nvPicPr>
          <p:cNvPr id="265" name="Google Shape;2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988" y="2151537"/>
            <a:ext cx="3729327" cy="1216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 sieci dostępowych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Sieci bezprzewodowe </a:t>
            </a:r>
            <a:endParaRPr sz="1800"/>
          </a:p>
        </p:txBody>
      </p:sp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WIFI i WiMAX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Systemy satelitarne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Sieci telefonii ruchomej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sz="1800"/>
              <a:t>Bluetooth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3675" y="545750"/>
            <a:ext cx="3992400" cy="297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5"/>
          <p:cNvPicPr preferRelativeResize="0"/>
          <p:nvPr/>
        </p:nvPicPr>
        <p:blipFill rotWithShape="1">
          <a:blip r:embed="rId4">
            <a:alphaModFix/>
          </a:blip>
          <a:srcRect b="21403" l="21355" r="20974" t="34291"/>
          <a:stretch/>
        </p:blipFill>
        <p:spPr>
          <a:xfrm>
            <a:off x="629300" y="3077425"/>
            <a:ext cx="7885402" cy="34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819150" y="91099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Router Wi-Fi </a:t>
            </a:r>
            <a:endParaRPr sz="1800"/>
          </a:p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ZyXEL </a:t>
            </a:r>
            <a:r>
              <a:rPr b="1" lang="pl" sz="1800"/>
              <a:t>NBG-417N</a:t>
            </a:r>
            <a:endParaRPr b="1" sz="1800"/>
          </a:p>
        </p:txBody>
      </p:sp>
      <p:pic>
        <p:nvPicPr>
          <p:cNvPr id="283" name="Google Shape;2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2654300"/>
            <a:ext cx="2852950" cy="24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 txBox="1"/>
          <p:nvPr/>
        </p:nvSpPr>
        <p:spPr>
          <a:xfrm>
            <a:off x="4503750" y="2722725"/>
            <a:ext cx="4145400" cy="3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Standard bezprzewodowy:</a:t>
            </a:r>
            <a:r>
              <a:rPr lang="pl"/>
              <a:t> 802.11b/g/n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Maksymalny transfer:</a:t>
            </a:r>
            <a:r>
              <a:rPr lang="pl"/>
              <a:t> do 150 Mb/s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Liczba anten: </a:t>
            </a:r>
            <a:r>
              <a:rPr lang="pl"/>
              <a:t>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Filtrowanie adresów IP: </a:t>
            </a:r>
            <a:r>
              <a:rPr lang="pl"/>
              <a:t>nie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NAT: </a:t>
            </a:r>
            <a:r>
              <a:rPr lang="pl"/>
              <a:t>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Porty:</a:t>
            </a:r>
            <a:r>
              <a:rPr lang="pl"/>
              <a:t>4 x LAN, 1 x WAN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Kontrola dostępu ACL: </a:t>
            </a:r>
            <a:r>
              <a:rPr lang="pl"/>
              <a:t>nie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Firewall: </a:t>
            </a:r>
            <a:r>
              <a:rPr lang="pl"/>
              <a:t>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Cena ok:</a:t>
            </a:r>
            <a:r>
              <a:rPr lang="pl"/>
              <a:t>115 zł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819150" y="85431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Router Wi-Fi</a:t>
            </a:r>
            <a:endParaRPr sz="1800"/>
          </a:p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ASUS </a:t>
            </a:r>
            <a:r>
              <a:rPr b="1" lang="pl" sz="1800"/>
              <a:t>RT-AC88U</a:t>
            </a:r>
            <a:endParaRPr sz="1800"/>
          </a:p>
        </p:txBody>
      </p:sp>
      <p:pic>
        <p:nvPicPr>
          <p:cNvPr id="290" name="Google Shape;290;p37"/>
          <p:cNvPicPr preferRelativeResize="0"/>
          <p:nvPr/>
        </p:nvPicPr>
        <p:blipFill rotWithShape="1">
          <a:blip r:embed="rId3">
            <a:alphaModFix/>
          </a:blip>
          <a:srcRect b="2045" l="10645" r="14228" t="1920"/>
          <a:stretch/>
        </p:blipFill>
        <p:spPr>
          <a:xfrm>
            <a:off x="435025" y="2311975"/>
            <a:ext cx="3800050" cy="27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7"/>
          <p:cNvSpPr txBox="1"/>
          <p:nvPr/>
        </p:nvSpPr>
        <p:spPr>
          <a:xfrm>
            <a:off x="4798050" y="2505225"/>
            <a:ext cx="39024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>
                <a:solidFill>
                  <a:srgbClr val="1C1C1B"/>
                </a:solidFill>
                <a:uFill>
                  <a:noFill/>
                </a:uFill>
                <a:hlinkClick r:id="rId4"/>
              </a:rPr>
              <a:t>Standard bezprzewodowy: </a:t>
            </a:r>
            <a:r>
              <a:rPr lang="pl">
                <a:solidFill>
                  <a:srgbClr val="1C1C1B"/>
                </a:solidFill>
              </a:rPr>
              <a:t>802.11ac</a:t>
            </a:r>
            <a:endParaRPr>
              <a:solidFill>
                <a:srgbClr val="1C1C1B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C1C1B"/>
              </a:buClr>
              <a:buSzPts val="1400"/>
              <a:buChar char="●"/>
            </a:pPr>
            <a:r>
              <a:rPr b="1" lang="pl">
                <a:solidFill>
                  <a:srgbClr val="1C1C1B"/>
                </a:solidFill>
              </a:rPr>
              <a:t>Maksymalna prędkość transmisji bezprzewodowej: </a:t>
            </a:r>
            <a:r>
              <a:rPr lang="pl">
                <a:solidFill>
                  <a:srgbClr val="1C1C1B"/>
                </a:solidFill>
              </a:rPr>
              <a:t>3167 Mbps</a:t>
            </a:r>
            <a:endParaRPr>
              <a:solidFill>
                <a:srgbClr val="1C1C1B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C1C1B"/>
              </a:buClr>
              <a:buSzPts val="1400"/>
              <a:buChar char="●"/>
            </a:pPr>
            <a:r>
              <a:rPr b="1" lang="pl">
                <a:solidFill>
                  <a:srgbClr val="1C1C1B"/>
                </a:solidFill>
              </a:rPr>
              <a:t>Liczba anten:</a:t>
            </a:r>
            <a:r>
              <a:rPr lang="pl">
                <a:solidFill>
                  <a:srgbClr val="1C1C1B"/>
                </a:solidFill>
              </a:rPr>
              <a:t> 4</a:t>
            </a:r>
            <a:endParaRPr>
              <a:solidFill>
                <a:srgbClr val="1C1C1B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C1C1B"/>
              </a:buClr>
              <a:buSzPts val="1400"/>
              <a:buChar char="●"/>
            </a:pPr>
            <a:r>
              <a:rPr b="1" lang="pl">
                <a:solidFill>
                  <a:srgbClr val="1C1C1B"/>
                </a:solidFill>
              </a:rPr>
              <a:t>Liczba portów USB:	</a:t>
            </a:r>
            <a:r>
              <a:rPr lang="pl">
                <a:solidFill>
                  <a:srgbClr val="1C1C1B"/>
                </a:solidFill>
              </a:rPr>
              <a:t>2</a:t>
            </a:r>
            <a:endParaRPr>
              <a:solidFill>
                <a:srgbClr val="1C1C1B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C1C1B"/>
              </a:buClr>
              <a:buSzPts val="1400"/>
              <a:buChar char="●"/>
            </a:pPr>
            <a:r>
              <a:rPr b="1" lang="pl">
                <a:solidFill>
                  <a:srgbClr val="1C1C1B"/>
                </a:solidFill>
              </a:rPr>
              <a:t>Liczba portów LAN:	</a:t>
            </a:r>
            <a:r>
              <a:rPr lang="pl">
                <a:solidFill>
                  <a:srgbClr val="1C1C1B"/>
                </a:solidFill>
              </a:rPr>
              <a:t>8</a:t>
            </a:r>
            <a:endParaRPr>
              <a:solidFill>
                <a:srgbClr val="1C1C1B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C1C1B"/>
              </a:buClr>
              <a:buSzPts val="1400"/>
              <a:buChar char="●"/>
            </a:pPr>
            <a:r>
              <a:rPr b="1" lang="pl">
                <a:solidFill>
                  <a:srgbClr val="1C1C1B"/>
                </a:solidFill>
              </a:rPr>
              <a:t>Liczba portów WAN:	</a:t>
            </a:r>
            <a:r>
              <a:rPr lang="pl">
                <a:solidFill>
                  <a:srgbClr val="1C1C1B"/>
                </a:solidFill>
              </a:rPr>
              <a:t>1</a:t>
            </a:r>
            <a:endParaRPr>
              <a:solidFill>
                <a:srgbClr val="1C1C1B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C1C1B"/>
              </a:buClr>
              <a:buSzPts val="1400"/>
              <a:buChar char="●"/>
            </a:pPr>
            <a:r>
              <a:rPr b="1" lang="pl">
                <a:solidFill>
                  <a:srgbClr val="1C1C1B"/>
                </a:solidFill>
              </a:rPr>
              <a:t>Cena: </a:t>
            </a:r>
            <a:r>
              <a:rPr lang="pl">
                <a:solidFill>
                  <a:srgbClr val="1C1C1B"/>
                </a:solidFill>
              </a:rPr>
              <a:t>1500 zł</a:t>
            </a:r>
            <a:endParaRPr>
              <a:solidFill>
                <a:srgbClr val="1C1C1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type="title"/>
          </p:nvPr>
        </p:nvSpPr>
        <p:spPr>
          <a:xfrm>
            <a:off x="819150" y="6792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Wzmacniacz sieci bezprzewodowej</a:t>
            </a:r>
            <a:r>
              <a:rPr lang="pl" sz="1800"/>
              <a:t> AC1900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Tp-Link </a:t>
            </a:r>
            <a:r>
              <a:rPr b="1" lang="pl" sz="1800"/>
              <a:t>RE500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97" name="Google Shape;297;p38"/>
          <p:cNvPicPr preferRelativeResize="0"/>
          <p:nvPr/>
        </p:nvPicPr>
        <p:blipFill rotWithShape="1">
          <a:blip r:embed="rId3">
            <a:alphaModFix/>
          </a:blip>
          <a:srcRect b="26416" l="23087" r="62640" t="28559"/>
          <a:stretch/>
        </p:blipFill>
        <p:spPr>
          <a:xfrm>
            <a:off x="959601" y="1823300"/>
            <a:ext cx="2226274" cy="39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8"/>
          <p:cNvSpPr txBox="1"/>
          <p:nvPr/>
        </p:nvSpPr>
        <p:spPr>
          <a:xfrm>
            <a:off x="3697700" y="2070200"/>
            <a:ext cx="47085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255"/>
              </a:buClr>
              <a:buSzPts val="1200"/>
              <a:buChar char="●"/>
            </a:pPr>
            <a:r>
              <a:rPr b="1" lang="pl" sz="1200">
                <a:solidFill>
                  <a:srgbClr val="505255"/>
                </a:solidFill>
              </a:rPr>
              <a:t>Cztery anteny zewnętrzne</a:t>
            </a:r>
            <a:r>
              <a:rPr lang="pl" sz="1200">
                <a:solidFill>
                  <a:srgbClr val="505255"/>
                </a:solidFill>
              </a:rPr>
              <a:t> rozszerzają zasięg sieci, pokrywając obszar do 1300 m kw.</a:t>
            </a:r>
            <a:endParaRPr sz="1200">
              <a:solidFill>
                <a:srgbClr val="50525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255"/>
              </a:buClr>
              <a:buSzPts val="1200"/>
              <a:buChar char="●"/>
            </a:pPr>
            <a:r>
              <a:rPr b="1" lang="pl" sz="1200">
                <a:solidFill>
                  <a:srgbClr val="505255"/>
                </a:solidFill>
              </a:rPr>
              <a:t>600Mb/s w paśmie 2,4GHz + 1300Mb/s w paśmie 5GHz </a:t>
            </a:r>
            <a:r>
              <a:rPr lang="pl" sz="1200">
                <a:solidFill>
                  <a:srgbClr val="505255"/>
                </a:solidFill>
              </a:rPr>
              <a:t>pozwalają uzyskać połączenia do 1900Mb/s</a:t>
            </a:r>
            <a:endParaRPr sz="1200">
              <a:solidFill>
                <a:srgbClr val="50525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255"/>
              </a:buClr>
              <a:buSzPts val="1200"/>
              <a:buChar char="●"/>
            </a:pPr>
            <a:r>
              <a:rPr b="1" lang="pl" sz="1200">
                <a:solidFill>
                  <a:srgbClr val="505255"/>
                </a:solidFill>
              </a:rPr>
              <a:t>MU-MIMO 3x3 </a:t>
            </a:r>
            <a:r>
              <a:rPr lang="pl" sz="1200">
                <a:solidFill>
                  <a:srgbClr val="505255"/>
                </a:solidFill>
              </a:rPr>
              <a:t>– Możliwość przesyłania danych do wielu urządzeń jednocześnie sprawia, że wydajność wzrasta trzykrotnie</a:t>
            </a:r>
            <a:endParaRPr sz="1200">
              <a:solidFill>
                <a:srgbClr val="50525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255"/>
              </a:buClr>
              <a:buSzPts val="1200"/>
              <a:buChar char="●"/>
            </a:pPr>
            <a:r>
              <a:rPr b="1" lang="pl" sz="1200">
                <a:solidFill>
                  <a:srgbClr val="505255"/>
                </a:solidFill>
              </a:rPr>
              <a:t>Technologia transmisji kierunkowej </a:t>
            </a:r>
            <a:r>
              <a:rPr lang="pl" sz="1200">
                <a:solidFill>
                  <a:srgbClr val="505255"/>
                </a:solidFill>
              </a:rPr>
              <a:t>– Urządzenie wysyła sygnał Wi-fi do określonych urządzeń, zapewniając stabilne połączenia</a:t>
            </a:r>
            <a:endParaRPr sz="1200">
              <a:solidFill>
                <a:srgbClr val="50525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255"/>
              </a:buClr>
              <a:buSzPts val="1200"/>
              <a:buChar char="●"/>
            </a:pPr>
            <a:r>
              <a:rPr b="1" lang="pl" sz="1200">
                <a:solidFill>
                  <a:srgbClr val="505255"/>
                </a:solidFill>
              </a:rPr>
              <a:t>Tryb punktu dostępowego</a:t>
            </a:r>
            <a:r>
              <a:rPr lang="pl" sz="1200">
                <a:solidFill>
                  <a:srgbClr val="505255"/>
                </a:solidFill>
              </a:rPr>
              <a:t> –  Umożliwia utworzenie bezprzewodowego punktu dostępowego, dając sieci przewodowej dostęp do funkcji Wi-fi</a:t>
            </a:r>
            <a:endParaRPr sz="1200">
              <a:solidFill>
                <a:srgbClr val="50525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255"/>
              </a:buClr>
              <a:buSzPts val="1200"/>
              <a:buChar char="●"/>
            </a:pPr>
            <a:r>
              <a:rPr b="1" lang="pl" sz="1200">
                <a:solidFill>
                  <a:srgbClr val="505255"/>
                </a:solidFill>
              </a:rPr>
              <a:t>Aplikacja TP-LINK Tether </a:t>
            </a:r>
            <a:r>
              <a:rPr lang="pl" sz="1200">
                <a:solidFill>
                  <a:srgbClr val="505255"/>
                </a:solidFill>
              </a:rPr>
              <a:t>– Łatwe zarządzanie siecią na urządzeniu mobilnym z systemem iOS lub Android</a:t>
            </a:r>
            <a:endParaRPr sz="1200">
              <a:solidFill>
                <a:srgbClr val="5052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05255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9"/>
          <p:cNvPicPr preferRelativeResize="0"/>
          <p:nvPr/>
        </p:nvPicPr>
        <p:blipFill rotWithShape="1">
          <a:blip r:embed="rId3">
            <a:alphaModFix/>
          </a:blip>
          <a:srcRect b="20448" l="20568" r="52705" t="20348"/>
          <a:stretch/>
        </p:blipFill>
        <p:spPr>
          <a:xfrm>
            <a:off x="875250" y="1707475"/>
            <a:ext cx="2854075" cy="35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9"/>
          <p:cNvSpPr txBox="1"/>
          <p:nvPr/>
        </p:nvSpPr>
        <p:spPr>
          <a:xfrm>
            <a:off x="4017275" y="1445850"/>
            <a:ext cx="42561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Standardy sieciowe: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WiMax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IEEE 802.16e-2005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WiMax Wave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WiFi: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IEEE 802.11b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IEEE 802.11g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IEEE 802.11n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Częstotliwość: </a:t>
            </a:r>
            <a:r>
              <a:rPr lang="pl"/>
              <a:t>3.3-3, 8 GHz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Prędkość transmisji danych:</a:t>
            </a:r>
            <a:r>
              <a:rPr lang="pl"/>
              <a:t> 150 Mbps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Dodatkowe informacje: 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-funkcja Auto MDI-MDIX(automatyczne rozpoznawanie, czy podłączony kabel jest skrosowany czy prosty)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Cena ok:</a:t>
            </a:r>
            <a:r>
              <a:rPr lang="pl"/>
              <a:t> 540 zł</a:t>
            </a:r>
            <a:endParaRPr/>
          </a:p>
        </p:txBody>
      </p:sp>
      <p:sp>
        <p:nvSpPr>
          <p:cNvPr id="305" name="Google Shape;305;p39"/>
          <p:cNvSpPr txBox="1"/>
          <p:nvPr>
            <p:ph type="title"/>
          </p:nvPr>
        </p:nvSpPr>
        <p:spPr>
          <a:xfrm>
            <a:off x="767675" y="63331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Router wewnętrzny WiMax</a:t>
            </a:r>
            <a:endParaRPr sz="1800"/>
          </a:p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Teltonika RUT535 </a:t>
            </a:r>
            <a:endParaRPr b="1" sz="1800"/>
          </a:p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type="title"/>
          </p:nvPr>
        </p:nvSpPr>
        <p:spPr>
          <a:xfrm>
            <a:off x="3002525" y="2527050"/>
            <a:ext cx="30063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Sieci satelitarne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819150" y="6792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ViaSat Surfbeam 2 Satellite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RM4100</a:t>
            </a:r>
            <a:endParaRPr b="1" sz="1800"/>
          </a:p>
        </p:txBody>
      </p:sp>
      <p:pic>
        <p:nvPicPr>
          <p:cNvPr id="316" name="Google Shape;3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450" y="1744538"/>
            <a:ext cx="3824550" cy="33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1"/>
          <p:cNvSpPr txBox="1"/>
          <p:nvPr/>
        </p:nvSpPr>
        <p:spPr>
          <a:xfrm>
            <a:off x="4948525" y="1783975"/>
            <a:ext cx="3541200" cy="3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Brak ograniczeń dot. zasięgu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Prędkość pobierania do 50 Mb/s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Prędkość wysyłania do 6 Mb/s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Skład zestawu: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antena 80 cm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konwerter Tria lub nowszy E-tria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modem satelitarny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title"/>
          </p:nvPr>
        </p:nvSpPr>
        <p:spPr>
          <a:xfrm>
            <a:off x="819150" y="6523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Sieci komórkowe </a:t>
            </a:r>
            <a:endParaRPr sz="1800"/>
          </a:p>
        </p:txBody>
      </p:sp>
      <p:pic>
        <p:nvPicPr>
          <p:cNvPr id="323" name="Google Shape;323;p42"/>
          <p:cNvPicPr preferRelativeResize="0"/>
          <p:nvPr/>
        </p:nvPicPr>
        <p:blipFill rotWithShape="1">
          <a:blip r:embed="rId3">
            <a:alphaModFix/>
          </a:blip>
          <a:srcRect b="5069" l="5069" r="0" t="0"/>
          <a:stretch/>
        </p:blipFill>
        <p:spPr>
          <a:xfrm>
            <a:off x="1377412" y="1440625"/>
            <a:ext cx="6389176" cy="476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>
            <p:ph type="title"/>
          </p:nvPr>
        </p:nvSpPr>
        <p:spPr>
          <a:xfrm>
            <a:off x="819150" y="73301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Huawei </a:t>
            </a:r>
            <a:r>
              <a:rPr b="1" lang="pl" sz="1800"/>
              <a:t>E3372</a:t>
            </a:r>
            <a:endParaRPr b="1" sz="1800"/>
          </a:p>
        </p:txBody>
      </p:sp>
      <p:pic>
        <p:nvPicPr>
          <p:cNvPr id="329" name="Google Shape;32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900" y="1719042"/>
            <a:ext cx="40005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3"/>
          <p:cNvSpPr txBox="1"/>
          <p:nvPr/>
        </p:nvSpPr>
        <p:spPr>
          <a:xfrm>
            <a:off x="4840950" y="1559850"/>
            <a:ext cx="39624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3"/>
          <p:cNvSpPr txBox="1"/>
          <p:nvPr/>
        </p:nvSpPr>
        <p:spPr>
          <a:xfrm>
            <a:off x="4616800" y="1756800"/>
            <a:ext cx="4132500" cy="27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Prędkość</a:t>
            </a:r>
            <a:r>
              <a:rPr lang="pl"/>
              <a:t> 150 Mb/s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Sieci</a:t>
            </a:r>
            <a:r>
              <a:rPr lang="pl"/>
              <a:t> LTE/HSPA+/UMTS/EDGE/GPRS/GSM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Prędkość:</a:t>
            </a:r>
            <a:r>
              <a:rPr lang="pl"/>
              <a:t> 150 Mbps / 50 Mbps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Złącze</a:t>
            </a:r>
            <a:r>
              <a:rPr lang="pl"/>
              <a:t> USB, SIM, TS-5 x 2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WiFi</a:t>
            </a:r>
            <a:r>
              <a:rPr lang="pl"/>
              <a:t>: brak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/>
          <p:nvPr>
            <p:ph type="title"/>
          </p:nvPr>
        </p:nvSpPr>
        <p:spPr>
          <a:xfrm>
            <a:off x="819150" y="73301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Huawei </a:t>
            </a:r>
            <a:r>
              <a:rPr b="1" lang="pl" sz="1800"/>
              <a:t>E3372</a:t>
            </a:r>
            <a:endParaRPr b="1" sz="1800"/>
          </a:p>
        </p:txBody>
      </p:sp>
      <p:sp>
        <p:nvSpPr>
          <p:cNvPr id="337" name="Google Shape;337;p44"/>
          <p:cNvSpPr txBox="1"/>
          <p:nvPr/>
        </p:nvSpPr>
        <p:spPr>
          <a:xfrm>
            <a:off x="4831200" y="1715925"/>
            <a:ext cx="39624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4"/>
          <p:cNvSpPr txBox="1"/>
          <p:nvPr/>
        </p:nvSpPr>
        <p:spPr>
          <a:xfrm>
            <a:off x="4562250" y="1653175"/>
            <a:ext cx="4132500" cy="27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Bateria</a:t>
            </a:r>
            <a:r>
              <a:rPr lang="pl"/>
              <a:t>: 1500 mAh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Złącza</a:t>
            </a:r>
            <a:r>
              <a:rPr lang="pl"/>
              <a:t>: microUSB, miniSIM, 2xTS9 (anten zewnętrznych)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Prędkość</a:t>
            </a:r>
            <a:r>
              <a:rPr lang="pl"/>
              <a:t>: 150 Mbps / 50 Mbps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Wi-Fi: </a:t>
            </a:r>
            <a:r>
              <a:rPr lang="pl"/>
              <a:t>802.11a/b/g/n 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Do 10 jednocześnie obsługiwanych urządzeń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44"/>
          <p:cNvPicPr preferRelativeResize="0"/>
          <p:nvPr/>
        </p:nvPicPr>
        <p:blipFill rotWithShape="1">
          <a:blip r:embed="rId3">
            <a:alphaModFix/>
          </a:blip>
          <a:srcRect b="0" l="0" r="0" t="48371"/>
          <a:stretch/>
        </p:blipFill>
        <p:spPr>
          <a:xfrm>
            <a:off x="670425" y="1715921"/>
            <a:ext cx="3524250" cy="184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/>
          <p:nvPr>
            <p:ph type="title"/>
          </p:nvPr>
        </p:nvSpPr>
        <p:spPr>
          <a:xfrm>
            <a:off x="819150" y="73301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 Huawei </a:t>
            </a:r>
            <a:r>
              <a:rPr b="1" lang="pl" sz="1800"/>
              <a:t>B525 LTE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45"/>
          <p:cNvSpPr txBox="1"/>
          <p:nvPr/>
        </p:nvSpPr>
        <p:spPr>
          <a:xfrm>
            <a:off x="4840950" y="1559850"/>
            <a:ext cx="39624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5"/>
          <p:cNvSpPr txBox="1"/>
          <p:nvPr/>
        </p:nvSpPr>
        <p:spPr>
          <a:xfrm>
            <a:off x="4572000" y="1497100"/>
            <a:ext cx="4132500" cy="27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Złącza</a:t>
            </a:r>
            <a:r>
              <a:rPr lang="pl"/>
              <a:t>: 4xRJ45, 1xRJ11, USB 2.0, 2xSMA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Prędkość</a:t>
            </a:r>
            <a:r>
              <a:rPr lang="pl"/>
              <a:t>: 300 Mbps (DL) / 50 Mbps (UL)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Wi-Fi:</a:t>
            </a:r>
            <a:r>
              <a:rPr lang="pl"/>
              <a:t> 802.11 a/b/g/n/ac; Dual Band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Obsługa do 64 użytkowników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2 złącza anteny zewnętrznej</a:t>
            </a:r>
            <a:endParaRPr/>
          </a:p>
        </p:txBody>
      </p:sp>
      <p:pic>
        <p:nvPicPr>
          <p:cNvPr id="347" name="Google Shape;347;p45"/>
          <p:cNvPicPr preferRelativeResize="0"/>
          <p:nvPr/>
        </p:nvPicPr>
        <p:blipFill rotWithShape="1">
          <a:blip r:embed="rId3">
            <a:alphaModFix/>
          </a:blip>
          <a:srcRect b="20755" l="0" r="0" t="21380"/>
          <a:stretch/>
        </p:blipFill>
        <p:spPr>
          <a:xfrm>
            <a:off x="986125" y="1497100"/>
            <a:ext cx="2667000" cy="21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 preferRelativeResize="0"/>
          <p:nvPr/>
        </p:nvPicPr>
        <p:blipFill rotWithShape="1">
          <a:blip r:embed="rId4">
            <a:alphaModFix/>
          </a:blip>
          <a:srcRect b="19209" l="0" r="0" t="19497"/>
          <a:stretch/>
        </p:blipFill>
        <p:spPr>
          <a:xfrm>
            <a:off x="1060813" y="3881750"/>
            <a:ext cx="2517621" cy="21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>
            <p:ph type="title"/>
          </p:nvPr>
        </p:nvSpPr>
        <p:spPr>
          <a:xfrm>
            <a:off x="819150" y="73301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Zestaw InterPhone </a:t>
            </a:r>
            <a:r>
              <a:rPr b="1" lang="pl" sz="1800"/>
              <a:t>ODU-IDU 300</a:t>
            </a:r>
            <a:endParaRPr b="1" sz="1800"/>
          </a:p>
        </p:txBody>
      </p:sp>
      <p:sp>
        <p:nvSpPr>
          <p:cNvPr id="354" name="Google Shape;354;p46"/>
          <p:cNvSpPr txBox="1"/>
          <p:nvPr/>
        </p:nvSpPr>
        <p:spPr>
          <a:xfrm>
            <a:off x="4840950" y="1559850"/>
            <a:ext cx="39624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6"/>
          <p:cNvSpPr txBox="1"/>
          <p:nvPr/>
        </p:nvSpPr>
        <p:spPr>
          <a:xfrm>
            <a:off x="4572000" y="1497100"/>
            <a:ext cx="41325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Porty:</a:t>
            </a:r>
            <a:r>
              <a:rPr lang="pl"/>
              <a:t> 4x Gigabit Ethernet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Złącza: </a:t>
            </a:r>
            <a:r>
              <a:rPr lang="pl"/>
              <a:t>4 x 100Base-T (Fast Ethernet)</a:t>
            </a:r>
            <a:br>
              <a:rPr lang="pl"/>
            </a:br>
            <a:r>
              <a:rPr lang="pl"/>
              <a:t>2 x złącze typ F (IEC 169-24)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Wi-Fi</a:t>
            </a:r>
            <a:r>
              <a:rPr lang="pl"/>
              <a:t>: 802.11 b/g/n/ac; 2,4 GHz/5 GHz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Prędkość:</a:t>
            </a:r>
            <a:r>
              <a:rPr lang="pl"/>
              <a:t> do 300 Mbps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l"/>
              <a:t>Instalacja na zewnątrz budynku </a:t>
            </a:r>
            <a:endParaRPr b="1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Modem jest zasilany z routera IDU poprzez kabel koncentryczny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Przycisk WPS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Rozbudowane  WebGui do zarządzania routerem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Obsługa: zabezpieczeń WPA/WPA2, usługi DDNS, przekierowania portów, filtrowania MAC/IP/portów, blokowania URL, DMZ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25" y="1459077"/>
            <a:ext cx="3838500" cy="2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7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l" sz="1500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Bluetooth to technologia </a:t>
            </a:r>
            <a:r>
              <a:rPr b="1" lang="pl" sz="1500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bezprzewodowego przesyłu danych za pomocą fal radiowych</a:t>
            </a:r>
            <a:r>
              <a:rPr lang="pl" sz="1500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, umożliwiająca łatwą komunikację między różnymi sprzętami. Powstała po to, aby uprościć wymianę danych i umożliwić prowadzenie jej bez ciągłego nadzoru użytkownika. W praktyce Bluetooth umożliwił m.in. wkroczenie na kolejny etap ewolucji pilotów do </a:t>
            </a:r>
            <a:r>
              <a:rPr lang="pl" sz="1500" u="sng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  <a:hlinkClick r:id="rId3"/>
              </a:rPr>
              <a:t>telewizorów</a:t>
            </a:r>
            <a:r>
              <a:rPr lang="pl" sz="1500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. W ich przypadku przez długie lata trzeba było celować w ekran, a przesłonięcie nadajnika dłonią uniemożliwiało zmianę kanału. Aby usprawnić komunikację między sprzętami, trzeba było nowego, prostego rozwiązania — innego niż wi-fi, które jest kosztowniejsze i wymaga zastosowania routera.</a:t>
            </a:r>
            <a:endParaRPr/>
          </a:p>
        </p:txBody>
      </p:sp>
      <p:pic>
        <p:nvPicPr>
          <p:cNvPr id="363" name="Google Shape;36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235" y="440651"/>
            <a:ext cx="8025540" cy="221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425" y="482750"/>
            <a:ext cx="7253924" cy="20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8"/>
          <p:cNvPicPr preferRelativeResize="0"/>
          <p:nvPr/>
        </p:nvPicPr>
        <p:blipFill rotWithShape="1">
          <a:blip r:embed="rId4">
            <a:alphaModFix/>
          </a:blip>
          <a:srcRect b="25923" l="28184" r="29065" t="23066"/>
          <a:stretch/>
        </p:blipFill>
        <p:spPr>
          <a:xfrm>
            <a:off x="438350" y="2655550"/>
            <a:ext cx="3093000" cy="207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8"/>
          <p:cNvPicPr preferRelativeResize="0"/>
          <p:nvPr/>
        </p:nvPicPr>
        <p:blipFill rotWithShape="1">
          <a:blip r:embed="rId5">
            <a:alphaModFix/>
          </a:blip>
          <a:srcRect b="4500" l="51060" r="9715" t="3840"/>
          <a:stretch/>
        </p:blipFill>
        <p:spPr>
          <a:xfrm>
            <a:off x="6331475" y="2655550"/>
            <a:ext cx="2080501" cy="292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8"/>
          <p:cNvPicPr preferRelativeResize="0"/>
          <p:nvPr/>
        </p:nvPicPr>
        <p:blipFill rotWithShape="1">
          <a:blip r:embed="rId6">
            <a:alphaModFix/>
          </a:blip>
          <a:srcRect b="28963" l="25134" r="57869" t="35309"/>
          <a:stretch/>
        </p:blipFill>
        <p:spPr>
          <a:xfrm>
            <a:off x="4030375" y="2709850"/>
            <a:ext cx="1633877" cy="193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8"/>
          <p:cNvPicPr preferRelativeResize="0"/>
          <p:nvPr/>
        </p:nvPicPr>
        <p:blipFill rotWithShape="1">
          <a:blip r:embed="rId7">
            <a:alphaModFix/>
          </a:blip>
          <a:srcRect b="26242" l="32734" r="34756" t="20375"/>
          <a:stretch/>
        </p:blipFill>
        <p:spPr>
          <a:xfrm>
            <a:off x="2354250" y="4641850"/>
            <a:ext cx="2008800" cy="185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TELEWIZJA</a:t>
            </a:r>
            <a:endParaRPr/>
          </a:p>
        </p:txBody>
      </p:sp>
      <p:pic>
        <p:nvPicPr>
          <p:cNvPr id="378" name="Google Shape;378;p49"/>
          <p:cNvPicPr preferRelativeResize="0"/>
          <p:nvPr/>
        </p:nvPicPr>
        <p:blipFill rotWithShape="1">
          <a:blip r:embed="rId3">
            <a:alphaModFix/>
          </a:blip>
          <a:srcRect b="10214" l="21681" r="22352" t="10230"/>
          <a:stretch/>
        </p:blipFill>
        <p:spPr>
          <a:xfrm>
            <a:off x="3240750" y="2296112"/>
            <a:ext cx="2390887" cy="226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0"/>
          <p:cNvSpPr txBox="1"/>
          <p:nvPr>
            <p:ph type="title"/>
          </p:nvPr>
        </p:nvSpPr>
        <p:spPr>
          <a:xfrm>
            <a:off x="819150" y="6273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Dekoder telewizji kablowej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Arris 1113 HD</a:t>
            </a:r>
            <a:endParaRPr sz="1800"/>
          </a:p>
        </p:txBody>
      </p:sp>
      <p:sp>
        <p:nvSpPr>
          <p:cNvPr id="384" name="Google Shape;384;p50"/>
          <p:cNvSpPr txBox="1"/>
          <p:nvPr/>
        </p:nvSpPr>
        <p:spPr>
          <a:xfrm>
            <a:off x="4188475" y="3429000"/>
            <a:ext cx="4537500" cy="29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Telewizja oparta na standardzie  IPTV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Porty: </a:t>
            </a:r>
            <a:r>
              <a:rPr lang="pl"/>
              <a:t>Ethernet, USB, HDMI, CVBS i slot karty SD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Jakość obrazu HD:</a:t>
            </a:r>
            <a:r>
              <a:rPr lang="pl"/>
              <a:t>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Nagrywanie czasowe/cykliczne:</a:t>
            </a:r>
            <a:r>
              <a:rPr lang="pl"/>
              <a:t>Nie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Nagrywarka PVR USB:</a:t>
            </a:r>
            <a:r>
              <a:rPr lang="pl"/>
              <a:t>Nie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Zatrzymywanie telewizji na żywo (Time Shifting):</a:t>
            </a:r>
            <a:r>
              <a:rPr lang="pl"/>
              <a:t>Nie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Pamięć:</a:t>
            </a:r>
            <a:r>
              <a:rPr lang="pl"/>
              <a:t>512 MB pamięci DDR3, 128 MB pamięci Flash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Wykorzystywany przez Jambox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50"/>
          <p:cNvPicPr preferRelativeResize="0"/>
          <p:nvPr/>
        </p:nvPicPr>
        <p:blipFill rotWithShape="1">
          <a:blip r:embed="rId3">
            <a:alphaModFix/>
          </a:blip>
          <a:srcRect b="42405" l="42118" r="18204" t="33610"/>
          <a:stretch/>
        </p:blipFill>
        <p:spPr>
          <a:xfrm>
            <a:off x="435025" y="1967825"/>
            <a:ext cx="5117899" cy="174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1"/>
          <p:cNvSpPr txBox="1"/>
          <p:nvPr>
            <p:ph type="title"/>
          </p:nvPr>
        </p:nvSpPr>
        <p:spPr>
          <a:xfrm>
            <a:off x="691200" y="56449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Dekoder telewizji kablowej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MAG 255 HD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1" name="Google Shape;391;p51"/>
          <p:cNvSpPr txBox="1"/>
          <p:nvPr/>
        </p:nvSpPr>
        <p:spPr>
          <a:xfrm>
            <a:off x="4315150" y="1837400"/>
            <a:ext cx="4328100" cy="28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Jakość obrazu HD:</a:t>
            </a:r>
            <a:r>
              <a:rPr lang="pl"/>
              <a:t>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Nagrywanie czasowe/cykliczne: </a:t>
            </a:r>
            <a:r>
              <a:rPr lang="pl"/>
              <a:t>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Nagrywarka PVR USB:</a:t>
            </a:r>
            <a:r>
              <a:rPr lang="pl"/>
              <a:t>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Porty</a:t>
            </a:r>
            <a:r>
              <a:rPr lang="pl"/>
              <a:t>: HDMI 1.4, 9-pin Mini-DIN, Ethernet, USB 2.0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Zatrzymywanie telewizji na żywo (Time Shifting):</a:t>
            </a:r>
            <a:r>
              <a:rPr lang="pl"/>
              <a:t>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Pamięć RAM:</a:t>
            </a:r>
            <a:r>
              <a:rPr lang="pl"/>
              <a:t> 512 MB, pamięć FLASH: 256 MB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Wykorzystywany przez Jambox</a:t>
            </a:r>
            <a:endParaRPr/>
          </a:p>
        </p:txBody>
      </p:sp>
      <p:pic>
        <p:nvPicPr>
          <p:cNvPr id="392" name="Google Shape;392;p51"/>
          <p:cNvPicPr preferRelativeResize="0"/>
          <p:nvPr/>
        </p:nvPicPr>
        <p:blipFill rotWithShape="1">
          <a:blip r:embed="rId3">
            <a:alphaModFix/>
          </a:blip>
          <a:srcRect b="35901" l="51444" r="20723" t="39903"/>
          <a:stretch/>
        </p:blipFill>
        <p:spPr>
          <a:xfrm>
            <a:off x="626950" y="1883413"/>
            <a:ext cx="3480173" cy="170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2"/>
          <p:cNvSpPr txBox="1"/>
          <p:nvPr>
            <p:ph type="title"/>
          </p:nvPr>
        </p:nvSpPr>
        <p:spPr>
          <a:xfrm>
            <a:off x="691200" y="679642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Dekoder telewizji satelitarnej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Vu+ Zero Black</a:t>
            </a:r>
            <a:endParaRPr b="1" sz="1800"/>
          </a:p>
        </p:txBody>
      </p:sp>
      <p:pic>
        <p:nvPicPr>
          <p:cNvPr id="398" name="Google Shape;398;p52"/>
          <p:cNvPicPr preferRelativeResize="0"/>
          <p:nvPr/>
        </p:nvPicPr>
        <p:blipFill rotWithShape="1">
          <a:blip r:embed="rId3">
            <a:alphaModFix/>
          </a:blip>
          <a:srcRect b="44329" l="31902" r="43050" t="36539"/>
          <a:stretch/>
        </p:blipFill>
        <p:spPr>
          <a:xfrm>
            <a:off x="383824" y="2276150"/>
            <a:ext cx="3761674" cy="161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2"/>
          <p:cNvSpPr txBox="1"/>
          <p:nvPr/>
        </p:nvSpPr>
        <p:spPr>
          <a:xfrm>
            <a:off x="4545975" y="2165675"/>
            <a:ext cx="4097400" cy="28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Procesor</a:t>
            </a:r>
            <a:r>
              <a:rPr lang="pl"/>
              <a:t>: firmy Broadcom 7362 o częstotliwości 751MHz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Złącze Ethernet</a:t>
            </a:r>
            <a:r>
              <a:rPr lang="pl"/>
              <a:t>: Tak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Gniazdo</a:t>
            </a:r>
            <a:r>
              <a:rPr lang="pl"/>
              <a:t>: USB x 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Pamięć</a:t>
            </a:r>
            <a:r>
              <a:rPr lang="pl"/>
              <a:t>: 512 MB pamięci RAM, 256 MB Flash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Wymiary</a:t>
            </a:r>
            <a:r>
              <a:rPr lang="pl"/>
              <a:t>: 160 x 145 x 30 mm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Cena</a:t>
            </a:r>
            <a:r>
              <a:rPr lang="pl"/>
              <a:t> ok: 400zł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3"/>
          <p:cNvSpPr txBox="1"/>
          <p:nvPr>
            <p:ph type="title"/>
          </p:nvPr>
        </p:nvSpPr>
        <p:spPr>
          <a:xfrm>
            <a:off x="640025" y="51331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Dekoder telewizji satelitarnej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Vu+ Zero 4K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405" name="Google Shape;405;p53"/>
          <p:cNvPicPr preferRelativeResize="0"/>
          <p:nvPr/>
        </p:nvPicPr>
        <p:blipFill rotWithShape="1">
          <a:blip r:embed="rId3">
            <a:alphaModFix/>
          </a:blip>
          <a:srcRect b="34874" l="27427" r="40668" t="36541"/>
          <a:stretch/>
        </p:blipFill>
        <p:spPr>
          <a:xfrm>
            <a:off x="522950" y="1921975"/>
            <a:ext cx="4172501" cy="2102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3"/>
          <p:cNvSpPr txBox="1"/>
          <p:nvPr/>
        </p:nvSpPr>
        <p:spPr>
          <a:xfrm>
            <a:off x="4695450" y="1687675"/>
            <a:ext cx="4064700" cy="3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Rozdzielczość</a:t>
            </a:r>
            <a:r>
              <a:rPr lang="pl"/>
              <a:t>:UltraHD 4K (2160p)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Pamięć</a:t>
            </a:r>
            <a:r>
              <a:rPr lang="pl"/>
              <a:t>: 4 GB pamięci flash i 2 GB pamięci RAM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Procesor</a:t>
            </a:r>
            <a:r>
              <a:rPr lang="pl"/>
              <a:t>: Dual Core ARM Broadcom 1,5 GHz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Złącze</a:t>
            </a:r>
            <a:r>
              <a:rPr lang="pl"/>
              <a:t>: Ethernet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Gniazdo</a:t>
            </a:r>
            <a:r>
              <a:rPr lang="pl"/>
              <a:t>: USB 2.0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Wymiary</a:t>
            </a:r>
            <a:r>
              <a:rPr lang="pl"/>
              <a:t>: 140 x 50 x 108 mm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Dodatki</a:t>
            </a:r>
            <a:r>
              <a:rPr lang="pl"/>
              <a:t>: nieograniczona ilość kanałów i list ulubionych,Możliwość podłączenia zewnętrznego czujnika podczerwieni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Cena</a:t>
            </a:r>
            <a:r>
              <a:rPr lang="pl"/>
              <a:t> ok: 650zł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4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TELEFON</a:t>
            </a:r>
            <a:endParaRPr/>
          </a:p>
        </p:txBody>
      </p:sp>
      <p:pic>
        <p:nvPicPr>
          <p:cNvPr id="412" name="Google Shape;4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9888" y="3003200"/>
            <a:ext cx="2124226" cy="156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"/>
          <p:cNvSpPr txBox="1"/>
          <p:nvPr>
            <p:ph type="title"/>
          </p:nvPr>
        </p:nvSpPr>
        <p:spPr>
          <a:xfrm>
            <a:off x="819150" y="589596"/>
            <a:ext cx="75057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Router </a:t>
            </a:r>
            <a:r>
              <a:rPr b="1" lang="pl" sz="1800"/>
              <a:t>Huawei E5186 LTE</a:t>
            </a:r>
            <a:endParaRPr b="1" sz="1800"/>
          </a:p>
        </p:txBody>
      </p:sp>
      <p:pic>
        <p:nvPicPr>
          <p:cNvPr id="418" name="Google Shape;41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925" y="3729250"/>
            <a:ext cx="2617700" cy="26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50" y="1245998"/>
            <a:ext cx="2483249" cy="248324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5"/>
          <p:cNvSpPr/>
          <p:nvPr/>
        </p:nvSpPr>
        <p:spPr>
          <a:xfrm>
            <a:off x="1515050" y="5486400"/>
            <a:ext cx="824700" cy="555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5"/>
          <p:cNvSpPr txBox="1"/>
          <p:nvPr/>
        </p:nvSpPr>
        <p:spPr>
          <a:xfrm>
            <a:off x="4356850" y="1273000"/>
            <a:ext cx="42315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P</a:t>
            </a:r>
            <a:r>
              <a:rPr b="1" lang="pl"/>
              <a:t>rędkość</a:t>
            </a:r>
            <a:r>
              <a:rPr lang="pl"/>
              <a:t>: 300 Mbps / 50 Mbps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Ethernet</a:t>
            </a:r>
            <a:r>
              <a:rPr lang="pl"/>
              <a:t>: 4x 10/100/1000Mbps (w tym 1x WAN)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Antena wewnętrzna</a:t>
            </a:r>
            <a:r>
              <a:rPr lang="pl"/>
              <a:t> WLAN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Gniazdo anteny zewnętrznej</a:t>
            </a:r>
            <a:r>
              <a:rPr lang="pl"/>
              <a:t>: 2x SMA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 u="sng"/>
              <a:t>Gniazdo telefonu</a:t>
            </a:r>
            <a:r>
              <a:rPr lang="pl" u="sng"/>
              <a:t>: 2x RJ11 (CS voice/VoIP)</a:t>
            </a:r>
            <a:endParaRPr u="sng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"/>
              <a:t>Częstotliwości pracy</a:t>
            </a:r>
            <a:r>
              <a:rPr lang="pl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LTE FDD 800/900/1800/2100/2600 MHz TDD 2600 MHz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Dual-band HSPA+ - 900/2100 MHz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Quad-band EDGE/GPRS - 850/900/1800/1900 MHz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6"/>
          <p:cNvSpPr txBox="1"/>
          <p:nvPr>
            <p:ph type="title"/>
          </p:nvPr>
        </p:nvSpPr>
        <p:spPr>
          <a:xfrm>
            <a:off x="819150" y="589596"/>
            <a:ext cx="75057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Bramka VoIP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/>
              <a:t>Linksys SPA2102</a:t>
            </a:r>
            <a:endParaRPr b="1" sz="1800"/>
          </a:p>
        </p:txBody>
      </p:sp>
      <p:sp>
        <p:nvSpPr>
          <p:cNvPr id="427" name="Google Shape;427;p56"/>
          <p:cNvSpPr txBox="1"/>
          <p:nvPr/>
        </p:nvSpPr>
        <p:spPr>
          <a:xfrm>
            <a:off x="4796125" y="1537450"/>
            <a:ext cx="37833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2 porty głosowe FXS (RJ-11)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Obsługa do 2 kont-operatorów  VOIP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 ( SIP)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2 x Ethernet  (LAN / WAN)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Funkcja routera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Łatwa instalacja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Możliwość podłączenia “tradycyjnego” telefonu stacjonarnego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Niska cena (ok 40-50 zł)</a:t>
            </a:r>
            <a:endParaRPr/>
          </a:p>
        </p:txBody>
      </p:sp>
      <p:pic>
        <p:nvPicPr>
          <p:cNvPr id="428" name="Google Shape;42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00" y="1747996"/>
            <a:ext cx="4016176" cy="2409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7"/>
          <p:cNvSpPr txBox="1"/>
          <p:nvPr>
            <p:ph type="title"/>
          </p:nvPr>
        </p:nvSpPr>
        <p:spPr>
          <a:xfrm>
            <a:off x="819150" y="688196"/>
            <a:ext cx="75057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Telefon IP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Cisco </a:t>
            </a:r>
            <a:r>
              <a:rPr b="1" lang="pl" sz="1800"/>
              <a:t>CP-7940G</a:t>
            </a:r>
            <a:endParaRPr b="1" sz="1800"/>
          </a:p>
        </p:txBody>
      </p:sp>
      <p:sp>
        <p:nvSpPr>
          <p:cNvPr id="434" name="Google Shape;434;p57"/>
          <p:cNvSpPr txBox="1"/>
          <p:nvPr/>
        </p:nvSpPr>
        <p:spPr>
          <a:xfrm>
            <a:off x="4796125" y="1537450"/>
            <a:ext cx="37833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Wyświetlanie informacji: data, godzina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Redukcja szumów (CNG)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D</a:t>
            </a:r>
            <a:r>
              <a:rPr lang="pl"/>
              <a:t>etekcja dźwięku (VAD)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Oprogramowanie: Cisco CallManager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Aktualizacja firmware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Regulacja głośności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24 dzwonki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Przyciski funkcyjne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Przypisywanie  adresów IP: DHCP, statyczny</a:t>
            </a:r>
            <a:endParaRPr/>
          </a:p>
        </p:txBody>
      </p:sp>
      <p:pic>
        <p:nvPicPr>
          <p:cNvPr id="435" name="Google Shape;43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50" y="1842249"/>
            <a:ext cx="3505199" cy="350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8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Dziękujemy za uwagę!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