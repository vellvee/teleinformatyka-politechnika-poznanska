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80" r:id="rId10"/>
    <p:sldId id="263" r:id="rId11"/>
    <p:sldId id="265" r:id="rId12"/>
    <p:sldId id="266" r:id="rId13"/>
    <p:sldId id="267" r:id="rId14"/>
    <p:sldId id="278" r:id="rId15"/>
    <p:sldId id="268" r:id="rId16"/>
    <p:sldId id="269" r:id="rId17"/>
    <p:sldId id="270" r:id="rId18"/>
    <p:sldId id="271" r:id="rId19"/>
    <p:sldId id="276" r:id="rId20"/>
    <p:sldId id="272" r:id="rId21"/>
    <p:sldId id="273" r:id="rId22"/>
    <p:sldId id="274" r:id="rId23"/>
    <p:sldId id="275" r:id="rId24"/>
    <p:sldId id="277" r:id="rId25"/>
    <p:sldId id="279" r:id="rId26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60" d="100"/>
          <a:sy n="160" d="100"/>
        </p:scale>
        <p:origin x="-2148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2F91E5-BC5D-473C-B9DD-96C644B49796}" type="datetimeFigureOut">
              <a:rPr lang="pl-PL" smtClean="0"/>
              <a:pPr/>
              <a:t>2019-11-06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7C2B6-0C1B-4D34-8E5E-EBFD08ECB582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xmlns="" val="2713303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57C2B6-0C1B-4D34-8E5E-EBFD08ECB582}" type="slidenum">
              <a:rPr lang="pl-PL" smtClean="0"/>
              <a:pPr/>
              <a:t>13</a:t>
            </a:fld>
            <a:endParaRPr lang="pl-P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 smtClean="0"/>
              <a:t>Kliknij, aby edytować styl wzorca podtytułu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BDC77-03B3-4FB8-A705-654D7C07E08D}" type="datetimeFigureOut">
              <a:rPr lang="pl-PL" smtClean="0"/>
              <a:pPr/>
              <a:t>2019-11-06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A0F23-1857-4399-A045-AFB187A955B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BDC77-03B3-4FB8-A705-654D7C07E08D}" type="datetimeFigureOut">
              <a:rPr lang="pl-PL" smtClean="0"/>
              <a:pPr/>
              <a:t>2019-11-06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A0F23-1857-4399-A045-AFB187A955B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BDC77-03B3-4FB8-A705-654D7C07E08D}" type="datetimeFigureOut">
              <a:rPr lang="pl-PL" smtClean="0"/>
              <a:pPr/>
              <a:t>2019-11-06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A0F23-1857-4399-A045-AFB187A955B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BDC77-03B3-4FB8-A705-654D7C07E08D}" type="datetimeFigureOut">
              <a:rPr lang="pl-PL" smtClean="0"/>
              <a:pPr/>
              <a:t>2019-11-06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A0F23-1857-4399-A045-AFB187A955B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BDC77-03B3-4FB8-A705-654D7C07E08D}" type="datetimeFigureOut">
              <a:rPr lang="pl-PL" smtClean="0"/>
              <a:pPr/>
              <a:t>2019-11-06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A0F23-1857-4399-A045-AFB187A955B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BDC77-03B3-4FB8-A705-654D7C07E08D}" type="datetimeFigureOut">
              <a:rPr lang="pl-PL" smtClean="0"/>
              <a:pPr/>
              <a:t>2019-11-06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A0F23-1857-4399-A045-AFB187A955B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BDC77-03B3-4FB8-A705-654D7C07E08D}" type="datetimeFigureOut">
              <a:rPr lang="pl-PL" smtClean="0"/>
              <a:pPr/>
              <a:t>2019-11-06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A0F23-1857-4399-A045-AFB187A955B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BDC77-03B3-4FB8-A705-654D7C07E08D}" type="datetimeFigureOut">
              <a:rPr lang="pl-PL" smtClean="0"/>
              <a:pPr/>
              <a:t>2019-11-06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A0F23-1857-4399-A045-AFB187A955B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BDC77-03B3-4FB8-A705-654D7C07E08D}" type="datetimeFigureOut">
              <a:rPr lang="pl-PL" smtClean="0"/>
              <a:pPr/>
              <a:t>2019-11-06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A0F23-1857-4399-A045-AFB187A955B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BDC77-03B3-4FB8-A705-654D7C07E08D}" type="datetimeFigureOut">
              <a:rPr lang="pl-PL" smtClean="0"/>
              <a:pPr/>
              <a:t>2019-11-06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A0F23-1857-4399-A045-AFB187A955B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BDC77-03B3-4FB8-A705-654D7C07E08D}" type="datetimeFigureOut">
              <a:rPr lang="pl-PL" smtClean="0"/>
              <a:pPr/>
              <a:t>2019-11-06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A0F23-1857-4399-A045-AFB187A955B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BDC77-03B3-4FB8-A705-654D7C07E08D}" type="datetimeFigureOut">
              <a:rPr lang="pl-PL" smtClean="0"/>
              <a:pPr/>
              <a:t>2019-11-06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A0F23-1857-4399-A045-AFB187A955B0}" type="slidenum">
              <a:rPr lang="pl-PL" smtClean="0"/>
              <a:pPr/>
              <a:t>‹#›</a:t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 smtClean="0"/>
              <a:t>Historia obliczania</a:t>
            </a:r>
            <a:endParaRPr lang="pl-PL" dirty="0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 smtClean="0"/>
              <a:t>Ryszard Stasiński</a:t>
            </a: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Plan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Do wynalezienia zera</a:t>
            </a:r>
          </a:p>
          <a:p>
            <a:r>
              <a:rPr lang="pl-PL" dirty="0" smtClean="0"/>
              <a:t>Czym liczono</a:t>
            </a:r>
          </a:p>
          <a:p>
            <a:r>
              <a:rPr lang="pl-PL" dirty="0" smtClean="0"/>
              <a:t>Obliczenia analogowe</a:t>
            </a:r>
          </a:p>
          <a:p>
            <a:r>
              <a:rPr lang="pl-PL" dirty="0" smtClean="0"/>
              <a:t>W kierunku komputera</a:t>
            </a:r>
          </a:p>
          <a:p>
            <a:endParaRPr lang="pl-PL" dirty="0" smtClean="0"/>
          </a:p>
          <a:p>
            <a:endParaRPr lang="pl-PL" dirty="0" smtClean="0"/>
          </a:p>
          <a:p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Do wynalezienia zera</a:t>
            </a:r>
            <a:endParaRPr lang="pl-PL" dirty="0"/>
          </a:p>
        </p:txBody>
      </p:sp>
      <p:sp>
        <p:nvSpPr>
          <p:cNvPr id="6" name="Symbol zastępczy zawartości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dirty="0" smtClean="0"/>
              <a:t>Operowanie dużymi liczbami nie jest w przyrodzie istotne</a:t>
            </a:r>
          </a:p>
          <a:p>
            <a:r>
              <a:rPr lang="pl-PL" dirty="0" smtClean="0"/>
              <a:t>Istotna jest umiejętność szacowania wielkości</a:t>
            </a:r>
          </a:p>
          <a:p>
            <a:r>
              <a:rPr lang="pl-PL" dirty="0" smtClean="0"/>
              <a:t>Przykład liczenia w archaicznym języku (</a:t>
            </a:r>
            <a:r>
              <a:rPr lang="pl-PL" dirty="0" err="1" smtClean="0"/>
              <a:t>Mabuiag</a:t>
            </a:r>
            <a:r>
              <a:rPr lang="pl-PL" dirty="0" smtClean="0"/>
              <a:t>, Australia):</a:t>
            </a:r>
          </a:p>
          <a:p>
            <a:pPr>
              <a:buNone/>
            </a:pPr>
            <a:r>
              <a:rPr lang="pl-PL" dirty="0" smtClean="0"/>
              <a:t>1 – </a:t>
            </a:r>
            <a:r>
              <a:rPr lang="pl-PL" i="1" dirty="0" err="1" smtClean="0"/>
              <a:t>urapun</a:t>
            </a:r>
            <a:r>
              <a:rPr lang="pl-PL" dirty="0" smtClean="0"/>
              <a:t>, 2 – </a:t>
            </a:r>
            <a:r>
              <a:rPr lang="pl-PL" i="1" dirty="0" err="1" smtClean="0"/>
              <a:t>okosa</a:t>
            </a:r>
            <a:r>
              <a:rPr lang="pl-PL" dirty="0" smtClean="0"/>
              <a:t>, 3 – </a:t>
            </a:r>
            <a:r>
              <a:rPr lang="pl-PL" i="1" dirty="0" err="1" smtClean="0"/>
              <a:t>okosa-urapun</a:t>
            </a:r>
            <a:r>
              <a:rPr lang="pl-PL" dirty="0" smtClean="0"/>
              <a:t>, 4 – </a:t>
            </a:r>
            <a:r>
              <a:rPr lang="pl-PL" i="1" dirty="0" err="1" smtClean="0"/>
              <a:t>okosa-okosa</a:t>
            </a:r>
            <a:r>
              <a:rPr lang="pl-PL" dirty="0" smtClean="0"/>
              <a:t>, 5 – </a:t>
            </a:r>
            <a:r>
              <a:rPr lang="pl-PL" i="1" dirty="0" err="1" smtClean="0"/>
              <a:t>okosa-okosa-urapun</a:t>
            </a:r>
            <a:r>
              <a:rPr lang="pl-PL" dirty="0" smtClean="0"/>
              <a:t>, 6 – </a:t>
            </a:r>
            <a:r>
              <a:rPr lang="pl-PL" i="1" dirty="0" err="1" smtClean="0"/>
              <a:t>okosa-okosa-okosa</a:t>
            </a:r>
            <a:r>
              <a:rPr lang="pl-PL" i="1" dirty="0" smtClean="0"/>
              <a:t>, </a:t>
            </a:r>
            <a:r>
              <a:rPr lang="pl-PL" dirty="0" smtClean="0"/>
              <a:t>7</a:t>
            </a:r>
            <a:r>
              <a:rPr lang="pl-PL" i="1" dirty="0" smtClean="0"/>
              <a:t> – ras, </a:t>
            </a:r>
            <a:r>
              <a:rPr lang="pl-PL" dirty="0" smtClean="0"/>
              <a:t>8</a:t>
            </a:r>
            <a:r>
              <a:rPr lang="pl-PL" i="1" dirty="0" smtClean="0"/>
              <a:t> – ras, </a:t>
            </a:r>
            <a:r>
              <a:rPr lang="pl-PL" dirty="0" smtClean="0"/>
              <a:t>9</a:t>
            </a:r>
            <a:r>
              <a:rPr lang="pl-PL" i="1" dirty="0" smtClean="0"/>
              <a:t> – ras, …</a:t>
            </a:r>
            <a:endParaRPr lang="pl-PL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Do wynalezienia zera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Do liczenia zmusił nas handel i cywilizacja</a:t>
            </a:r>
          </a:p>
          <a:p>
            <a:r>
              <a:rPr lang="pl-PL" dirty="0" smtClean="0"/>
              <a:t>Dominacja systemu dziesiętnego, rzadziej dwudziestkowego (j. Polski!) lub piątkowego</a:t>
            </a:r>
          </a:p>
          <a:p>
            <a:r>
              <a:rPr lang="pl-PL" dirty="0" smtClean="0"/>
              <a:t>Pierwsze znane systemy zapisu liczb – czwarte tysiąclecie </a:t>
            </a:r>
            <a:r>
              <a:rPr lang="pl-PL" dirty="0" err="1" smtClean="0"/>
              <a:t>p.n.e</a:t>
            </a:r>
            <a:r>
              <a:rPr lang="pl-PL" dirty="0" smtClean="0"/>
              <a:t>, Mezopotamia, Egipt</a:t>
            </a:r>
          </a:p>
          <a:p>
            <a:r>
              <a:rPr lang="pl-PL" dirty="0" smtClean="0"/>
              <a:t>Najstarszy „dokument państwowy” z zapisem dużych liczb – maczuga </a:t>
            </a:r>
            <a:r>
              <a:rPr lang="pl-PL" dirty="0" err="1" smtClean="0"/>
              <a:t>Narmera</a:t>
            </a:r>
            <a:r>
              <a:rPr lang="pl-PL" dirty="0" smtClean="0"/>
              <a:t>, </a:t>
            </a:r>
            <a:r>
              <a:rPr lang="pl-PL" dirty="0"/>
              <a:t>o</a:t>
            </a:r>
            <a:r>
              <a:rPr lang="pl-PL" dirty="0" smtClean="0"/>
              <a:t>k. 3100 </a:t>
            </a:r>
            <a:r>
              <a:rPr lang="pl-PL" dirty="0" err="1" smtClean="0"/>
              <a:t>p.n.e</a:t>
            </a: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Do wynalezienia zera</a:t>
            </a:r>
            <a:endParaRPr lang="pl-PL" dirty="0"/>
          </a:p>
        </p:txBody>
      </p:sp>
      <p:pic>
        <p:nvPicPr>
          <p:cNvPr id="4" name="Obraz 3" descr="0080-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340768"/>
            <a:ext cx="9144000" cy="3361315"/>
          </a:xfrm>
          <a:prstGeom prst="rect">
            <a:avLst/>
          </a:prstGeom>
        </p:spPr>
      </p:pic>
      <p:sp>
        <p:nvSpPr>
          <p:cNvPr id="5" name="pole tekstowe 4"/>
          <p:cNvSpPr txBox="1"/>
          <p:nvPr/>
        </p:nvSpPr>
        <p:spPr>
          <a:xfrm>
            <a:off x="2988494" y="5013176"/>
            <a:ext cx="1871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 smtClean="0"/>
              <a:t>400 000 szt. bydła</a:t>
            </a:r>
            <a:endParaRPr lang="pl-PL" dirty="0"/>
          </a:p>
        </p:txBody>
      </p:sp>
      <p:sp>
        <p:nvSpPr>
          <p:cNvPr id="6" name="pole tekstowe 5"/>
          <p:cNvSpPr txBox="1"/>
          <p:nvPr/>
        </p:nvSpPr>
        <p:spPr>
          <a:xfrm>
            <a:off x="4572000" y="5517232"/>
            <a:ext cx="1469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 smtClean="0"/>
              <a:t>1 422 000 kóz</a:t>
            </a:r>
            <a:endParaRPr lang="pl-PL" dirty="0"/>
          </a:p>
        </p:txBody>
      </p:sp>
      <p:sp>
        <p:nvSpPr>
          <p:cNvPr id="7" name="pole tekstowe 6"/>
          <p:cNvSpPr txBox="1"/>
          <p:nvPr/>
        </p:nvSpPr>
        <p:spPr>
          <a:xfrm>
            <a:off x="6012160" y="4941168"/>
            <a:ext cx="1666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 smtClean="0"/>
              <a:t>120 000 jeńców</a:t>
            </a:r>
            <a:endParaRPr lang="pl-PL" dirty="0"/>
          </a:p>
        </p:txBody>
      </p:sp>
      <p:cxnSp>
        <p:nvCxnSpPr>
          <p:cNvPr id="9" name="Łącznik prosty ze strzałką 8"/>
          <p:cNvCxnSpPr>
            <a:stCxn id="5" idx="0"/>
          </p:cNvCxnSpPr>
          <p:nvPr/>
        </p:nvCxnSpPr>
        <p:spPr>
          <a:xfrm flipV="1">
            <a:off x="3924263" y="4509120"/>
            <a:ext cx="287697" cy="50405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Łącznik prosty ze strzałką 10"/>
          <p:cNvCxnSpPr/>
          <p:nvPr/>
        </p:nvCxnSpPr>
        <p:spPr>
          <a:xfrm flipV="1">
            <a:off x="5292080" y="4509120"/>
            <a:ext cx="0" cy="86409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Łącznik prosty ze strzałką 12"/>
          <p:cNvCxnSpPr/>
          <p:nvPr/>
        </p:nvCxnSpPr>
        <p:spPr>
          <a:xfrm flipH="1" flipV="1">
            <a:off x="6300192" y="4509120"/>
            <a:ext cx="576064" cy="43204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Do wynalezienia zera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dirty="0" smtClean="0"/>
              <a:t>Z czasem – systemy pozycyjne ale bez zera:</a:t>
            </a:r>
          </a:p>
          <a:p>
            <a:pPr algn="ctr">
              <a:buNone/>
            </a:pPr>
            <a:r>
              <a:rPr lang="pl-PL" dirty="0"/>
              <a:t>	</a:t>
            </a:r>
            <a:r>
              <a:rPr lang="pl-PL" dirty="0" smtClean="0"/>
              <a:t>MMXX (czyli 2020)</a:t>
            </a:r>
          </a:p>
          <a:p>
            <a:pPr>
              <a:buNone/>
            </a:pPr>
            <a:r>
              <a:rPr lang="pl-PL" dirty="0" smtClean="0"/>
              <a:t>– są tysiące i dziesiątki, nie ma setek i jedności</a:t>
            </a:r>
          </a:p>
          <a:p>
            <a:r>
              <a:rPr lang="pl-PL" dirty="0" smtClean="0"/>
              <a:t>Zero w sensie „nic” (specjalny znak)</a:t>
            </a:r>
          </a:p>
          <a:p>
            <a:r>
              <a:rPr lang="pl-PL" dirty="0" smtClean="0"/>
              <a:t>„Prawie” zero – chiński system liczenia na prętach obliczeniowych, też Mezoameryka</a:t>
            </a:r>
          </a:p>
          <a:p>
            <a:r>
              <a:rPr lang="pl-PL" dirty="0" smtClean="0"/>
              <a:t>Separator cyfr w babilońskim systemie </a:t>
            </a:r>
            <a:r>
              <a:rPr lang="pl-PL" dirty="0" err="1" smtClean="0"/>
              <a:t>sześćdziesiątkowym</a:t>
            </a:r>
            <a:r>
              <a:rPr lang="pl-PL" dirty="0" smtClean="0"/>
              <a:t>, 300 p.n.e. </a:t>
            </a:r>
          </a:p>
          <a:p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Do wynalezienia zera</a:t>
            </a:r>
            <a:endParaRPr lang="pl-PL" dirty="0"/>
          </a:p>
        </p:txBody>
      </p:sp>
      <p:pic>
        <p:nvPicPr>
          <p:cNvPr id="5" name="Obraz 4" descr="Zero_in_Rod_Calculus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42415" y="2420888"/>
            <a:ext cx="7659169" cy="2791215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1043608" y="1772816"/>
            <a:ext cx="5509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 smtClean="0"/>
              <a:t>Chińskie pręty obliczeniowe, od czwartego stulecia p.n.e.</a:t>
            </a: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Do wynalezienia zera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l-PL" dirty="0" smtClean="0"/>
              <a:t>„Naukowy” system </a:t>
            </a:r>
            <a:r>
              <a:rPr lang="pl-PL" dirty="0" err="1" smtClean="0"/>
              <a:t>sześćdziesiątkowy</a:t>
            </a:r>
            <a:r>
              <a:rPr lang="pl-PL" dirty="0" smtClean="0"/>
              <a:t>: Sumer-Babilonia (trzecie tysiąclecie p.n.e.)</a:t>
            </a:r>
          </a:p>
          <a:p>
            <a:r>
              <a:rPr lang="pl-PL" dirty="0" smtClean="0"/>
              <a:t>Dalej – Bliski Wschód, Indie, Chiny, …</a:t>
            </a:r>
          </a:p>
          <a:p>
            <a:r>
              <a:rPr lang="pl-PL" dirty="0" smtClean="0"/>
              <a:t>Pierwiastek z 2 (Babilonia 1900-1650 p.n.e.):</a:t>
            </a:r>
          </a:p>
          <a:p>
            <a:endParaRPr lang="pl-PL" dirty="0" smtClean="0"/>
          </a:p>
          <a:p>
            <a:endParaRPr lang="pl-PL" dirty="0"/>
          </a:p>
          <a:p>
            <a:endParaRPr lang="pl-PL" dirty="0" smtClean="0"/>
          </a:p>
          <a:p>
            <a:endParaRPr lang="pl-PL" dirty="0" smtClean="0"/>
          </a:p>
          <a:p>
            <a:r>
              <a:rPr lang="pl-PL" dirty="0" smtClean="0"/>
              <a:t>Też liczba </a:t>
            </a:r>
            <a:r>
              <a:rPr lang="pl-PL" dirty="0" smtClean="0">
                <a:sym typeface="Symbol"/>
              </a:rPr>
              <a:t> - Ptolemeusz: 3; 8, 30 = 377/120</a:t>
            </a:r>
            <a:endParaRPr lang="pl-PL" dirty="0"/>
          </a:p>
        </p:txBody>
      </p:sp>
      <p:pic>
        <p:nvPicPr>
          <p:cNvPr id="4" name="Obraz 3" descr="Ybc7289-bw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47664" y="3573016"/>
            <a:ext cx="2146300" cy="2000250"/>
          </a:xfrm>
          <a:prstGeom prst="rect">
            <a:avLst/>
          </a:prstGeom>
        </p:spPr>
      </p:pic>
      <p:sp>
        <p:nvSpPr>
          <p:cNvPr id="5" name="pole tekstowe 4"/>
          <p:cNvSpPr txBox="1"/>
          <p:nvPr/>
        </p:nvSpPr>
        <p:spPr>
          <a:xfrm>
            <a:off x="4211960" y="3779748"/>
            <a:ext cx="1848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smtClean="0"/>
              <a:t>1; 24, 51, 10, czyli</a:t>
            </a:r>
            <a:endParaRPr lang="pl-PL" dirty="0"/>
          </a:p>
        </p:txBody>
      </p:sp>
      <p:sp>
        <p:nvSpPr>
          <p:cNvPr id="6" name="pole tekstowe 5"/>
          <p:cNvSpPr txBox="1"/>
          <p:nvPr/>
        </p:nvSpPr>
        <p:spPr>
          <a:xfrm>
            <a:off x="4211960" y="4365104"/>
            <a:ext cx="3340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 smtClean="0"/>
              <a:t>1 + 24/60 + 51/3600 + 10/216000</a:t>
            </a:r>
            <a:endParaRPr lang="pl-PL" dirty="0"/>
          </a:p>
        </p:txBody>
      </p:sp>
      <p:sp>
        <p:nvSpPr>
          <p:cNvPr id="8" name="pole tekstowe 7"/>
          <p:cNvSpPr txBox="1"/>
          <p:nvPr/>
        </p:nvSpPr>
        <p:spPr>
          <a:xfrm>
            <a:off x="4255202" y="4941168"/>
            <a:ext cx="161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smtClean="0"/>
              <a:t>= 30547/21600</a:t>
            </a: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Do wynalezienia zera</a:t>
            </a:r>
            <a:endParaRPr lang="pl-PL" dirty="0"/>
          </a:p>
        </p:txBody>
      </p:sp>
      <p:sp>
        <p:nvSpPr>
          <p:cNvPr id="4" name="pole tekstowe 3"/>
          <p:cNvSpPr txBox="1"/>
          <p:nvPr/>
        </p:nvSpPr>
        <p:spPr>
          <a:xfrm>
            <a:off x="694460" y="1537628"/>
            <a:ext cx="77659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/>
              <a:t>„Cyfry” babilońskiego systemu </a:t>
            </a:r>
            <a:r>
              <a:rPr lang="pl-PL" sz="2800" dirty="0" err="1" smtClean="0"/>
              <a:t>sześćdziesiątkowego</a:t>
            </a:r>
            <a:r>
              <a:rPr lang="pl-PL" sz="2800" dirty="0" smtClean="0"/>
              <a:t>:</a:t>
            </a:r>
            <a:endParaRPr lang="pl-PL" sz="2800" dirty="0"/>
          </a:p>
        </p:txBody>
      </p:sp>
      <p:pic>
        <p:nvPicPr>
          <p:cNvPr id="5" name="Obraz 4" descr="Babylonian_numeral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44340" y="2276872"/>
            <a:ext cx="5763964" cy="41970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Do wynalezienia zera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Dzisiejszy zapis dziesiętny – Indie, 5 wiek n.e.</a:t>
            </a:r>
          </a:p>
          <a:p>
            <a:r>
              <a:rPr lang="pl-PL" dirty="0" smtClean="0"/>
              <a:t>Najstarszy ślad: </a:t>
            </a:r>
            <a:r>
              <a:rPr lang="pl-PL" dirty="0" err="1" smtClean="0"/>
              <a:t>stella</a:t>
            </a:r>
            <a:r>
              <a:rPr lang="pl-PL" dirty="0" smtClean="0"/>
              <a:t> z </a:t>
            </a:r>
            <a:r>
              <a:rPr lang="pl-PL" dirty="0" err="1" smtClean="0"/>
              <a:t>Samboru</a:t>
            </a:r>
            <a:r>
              <a:rPr lang="pl-PL" dirty="0" smtClean="0"/>
              <a:t>, Kambodża</a:t>
            </a:r>
          </a:p>
          <a:p>
            <a:endParaRPr lang="pl-PL" dirty="0"/>
          </a:p>
          <a:p>
            <a:endParaRPr lang="pl-PL" dirty="0" smtClean="0"/>
          </a:p>
          <a:p>
            <a:endParaRPr lang="pl-PL" dirty="0"/>
          </a:p>
          <a:p>
            <a:r>
              <a:rPr lang="pl-PL" dirty="0" smtClean="0"/>
              <a:t>Europa – 11 wiek przez hiszpańskich Maurów</a:t>
            </a:r>
          </a:p>
          <a:p>
            <a:r>
              <a:rPr lang="pl-PL" dirty="0" err="1" smtClean="0"/>
              <a:t>Fibonacci</a:t>
            </a:r>
            <a:r>
              <a:rPr lang="pl-PL" dirty="0" smtClean="0"/>
              <a:t> 1202</a:t>
            </a:r>
            <a:endParaRPr lang="pl-PL" dirty="0"/>
          </a:p>
        </p:txBody>
      </p:sp>
      <p:pic>
        <p:nvPicPr>
          <p:cNvPr id="4" name="Obraz 3" descr="Khmer_Numerals_-_605_from_the_Sambor_inscription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97300" y="2930525"/>
            <a:ext cx="1549400" cy="996950"/>
          </a:xfrm>
          <a:prstGeom prst="rect">
            <a:avLst/>
          </a:prstGeom>
        </p:spPr>
      </p:pic>
      <p:sp>
        <p:nvSpPr>
          <p:cNvPr id="5" name="pole tekstowe 4"/>
          <p:cNvSpPr txBox="1"/>
          <p:nvPr/>
        </p:nvSpPr>
        <p:spPr>
          <a:xfrm>
            <a:off x="3253263" y="4005064"/>
            <a:ext cx="2686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 smtClean="0"/>
              <a:t>605 ery Saka, czyli 683 n.e.</a:t>
            </a: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Czym liczono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Po palcach nastąpił abakus (liczydło) – Sumer 2700-2300 p.n.e.</a:t>
            </a:r>
          </a:p>
          <a:p>
            <a:r>
              <a:rPr lang="pl-PL" dirty="0" smtClean="0"/>
              <a:t>W Chinach w drugim stuleciu p.n.e. (rzymskie pochodzenie?)</a:t>
            </a:r>
            <a:endParaRPr lang="pl-PL" dirty="0"/>
          </a:p>
        </p:txBody>
      </p:sp>
      <p:pic>
        <p:nvPicPr>
          <p:cNvPr id="4" name="Obraz 3" descr="Abacus_6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35696" y="3891336"/>
            <a:ext cx="3137615" cy="1841920"/>
          </a:xfrm>
          <a:prstGeom prst="rect">
            <a:avLst/>
          </a:prstGeom>
        </p:spPr>
      </p:pic>
      <p:pic>
        <p:nvPicPr>
          <p:cNvPr id="5" name="Obraz 4" descr="RomanAbacusRecon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691336" y="3999582"/>
            <a:ext cx="1905000" cy="1517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Czym liczono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l-PL" dirty="0" smtClean="0"/>
              <a:t>Wyrafinowana tablica obliczeniowa z Salaminy</a:t>
            </a:r>
          </a:p>
          <a:p>
            <a:endParaRPr lang="pl-PL" dirty="0"/>
          </a:p>
          <a:p>
            <a:endParaRPr lang="pl-PL" dirty="0" smtClean="0"/>
          </a:p>
          <a:p>
            <a:endParaRPr lang="pl-PL" dirty="0"/>
          </a:p>
          <a:p>
            <a:endParaRPr lang="pl-PL" dirty="0" smtClean="0"/>
          </a:p>
          <a:p>
            <a:endParaRPr lang="pl-PL" dirty="0"/>
          </a:p>
          <a:p>
            <a:endParaRPr lang="pl-PL" dirty="0" smtClean="0"/>
          </a:p>
          <a:p>
            <a:r>
              <a:rPr lang="pl-PL" dirty="0" smtClean="0"/>
              <a:t>Jak wygląda liczydło każdy wie…</a:t>
            </a:r>
            <a:endParaRPr lang="pl-PL" dirty="0"/>
          </a:p>
        </p:txBody>
      </p:sp>
      <p:pic>
        <p:nvPicPr>
          <p:cNvPr id="4" name="Obraz 3" descr="Salaminische_Tafel_Salamis_Tablet_nach_Wilhelm_Kubitschek_Numismatische_Zeitschrift_Bd_31_Wien_1899_p._394_ff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79912" y="2348880"/>
            <a:ext cx="1536700" cy="2933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Obliczanie analogowe</a:t>
            </a:r>
            <a:endParaRPr lang="pl-PL" dirty="0"/>
          </a:p>
        </p:txBody>
      </p:sp>
      <p:sp>
        <p:nvSpPr>
          <p:cNvPr id="8" name="Symbol zastępczy zawartości 7"/>
          <p:cNvSpPr>
            <a:spLocks noGrp="1"/>
          </p:cNvSpPr>
          <p:nvPr>
            <p:ph idx="1"/>
          </p:nvPr>
        </p:nvSpPr>
        <p:spPr>
          <a:xfrm>
            <a:off x="467544" y="1412776"/>
            <a:ext cx="8229600" cy="4525963"/>
          </a:xfrm>
        </p:spPr>
        <p:txBody>
          <a:bodyPr/>
          <a:lstStyle/>
          <a:p>
            <a:r>
              <a:rPr lang="pl-PL" dirty="0" smtClean="0"/>
              <a:t>Urządzenia do obliczeń astronomicznych: astrolabium (1-2 w. p.n.e.), planisfera…</a:t>
            </a:r>
          </a:p>
        </p:txBody>
      </p:sp>
      <p:pic>
        <p:nvPicPr>
          <p:cNvPr id="2" name="Obraz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248472" y="2924944"/>
            <a:ext cx="4572000" cy="3184815"/>
          </a:xfrm>
          <a:prstGeom prst="rect">
            <a:avLst/>
          </a:prstGeom>
        </p:spPr>
      </p:pic>
      <p:pic>
        <p:nvPicPr>
          <p:cNvPr id="3" name="Obraz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95536" y="2852936"/>
            <a:ext cx="3721806" cy="3429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Obliczenia analogowe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Mechanizm z </a:t>
            </a:r>
            <a:r>
              <a:rPr lang="pl-PL" dirty="0" err="1"/>
              <a:t>Antykitery</a:t>
            </a:r>
            <a:r>
              <a:rPr lang="pl-PL" dirty="0"/>
              <a:t>, ca 100 </a:t>
            </a:r>
            <a:r>
              <a:rPr lang="pl-PL" dirty="0" err="1"/>
              <a:t>p.n.e</a:t>
            </a:r>
            <a:r>
              <a:rPr lang="pl-PL" dirty="0"/>
              <a:t>:</a:t>
            </a:r>
          </a:p>
          <a:p>
            <a:endParaRPr lang="pl-PL" dirty="0"/>
          </a:p>
        </p:txBody>
      </p:sp>
      <p:pic>
        <p:nvPicPr>
          <p:cNvPr id="4" name="Obraz 3" descr="NAMA_Machine_d'Anticythère_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43608" y="2492896"/>
            <a:ext cx="3844637" cy="3501008"/>
          </a:xfrm>
          <a:prstGeom prst="rect">
            <a:avLst/>
          </a:prstGeom>
        </p:spPr>
      </p:pic>
      <p:pic>
        <p:nvPicPr>
          <p:cNvPr id="5" name="Obraz 4" descr="Antikythera_model_front_panel_Mogi_Vicentini_2007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076056" y="2492896"/>
            <a:ext cx="257175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64387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Obliczenia analogowe</a:t>
            </a:r>
            <a:endParaRPr lang="pl-PL" dirty="0"/>
          </a:p>
        </p:txBody>
      </p:sp>
      <p:sp>
        <p:nvSpPr>
          <p:cNvPr id="3" name="pole tekstowe 2"/>
          <p:cNvSpPr txBox="1"/>
          <p:nvPr/>
        </p:nvSpPr>
        <p:spPr>
          <a:xfrm>
            <a:off x="872364" y="1475492"/>
            <a:ext cx="5715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 smtClean="0"/>
              <a:t>Sektor (k. XVI-go wieku) i suwak logarytmiczny (1620-1630)</a:t>
            </a:r>
            <a:endParaRPr lang="pl-PL" dirty="0"/>
          </a:p>
        </p:txBody>
      </p:sp>
      <p:pic>
        <p:nvPicPr>
          <p:cNvPr id="4" name="Obraz 3" descr="Compas_de_proportion_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89532" y="2010152"/>
            <a:ext cx="5964936" cy="1706880"/>
          </a:xfrm>
          <a:prstGeom prst="rect">
            <a:avLst/>
          </a:prstGeom>
        </p:spPr>
      </p:pic>
      <p:pic>
        <p:nvPicPr>
          <p:cNvPr id="5" name="Obraz 4" descr="Sliderule.PickettN902T.agr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04256" y="3812133"/>
            <a:ext cx="4572000" cy="25691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Obliczenia analogowe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Mechaniczny analizator różniczkowy </a:t>
            </a:r>
          </a:p>
          <a:p>
            <a:pPr>
              <a:buNone/>
            </a:pPr>
            <a:r>
              <a:rPr lang="pl-PL" dirty="0" smtClean="0"/>
              <a:t>– pomysł Kelvina, 1876, realizacja po 1-szej Wojnie Światowej</a:t>
            </a:r>
            <a:endParaRPr lang="pl-PL" dirty="0"/>
          </a:p>
        </p:txBody>
      </p:sp>
      <p:pic>
        <p:nvPicPr>
          <p:cNvPr id="4" name="Obraz 3" descr="KayMcNultyAlyseSnyderSisStumpDifferentialAnalyzer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55776" y="3501008"/>
            <a:ext cx="3970020" cy="27533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Obliczenia analogowe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57200" y="1423317"/>
            <a:ext cx="8229600" cy="4525963"/>
          </a:xfrm>
        </p:spPr>
        <p:txBody>
          <a:bodyPr>
            <a:normAutofit/>
          </a:bodyPr>
          <a:lstStyle/>
          <a:p>
            <a:r>
              <a:rPr lang="pl-PL" sz="2800" dirty="0" smtClean="0"/>
              <a:t>Po 2-giej WŚ: układy elektroniczne (wzmacniacze operacyjne!)</a:t>
            </a:r>
            <a:endParaRPr lang="pl-PL" sz="2800" dirty="0"/>
          </a:p>
        </p:txBody>
      </p:sp>
      <p:pic>
        <p:nvPicPr>
          <p:cNvPr id="4" name="Obraz 3" descr="PACE-TR-10_analog_computer_-_National_Cryptologic_Museum_-_DSC07908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91880" y="2564904"/>
            <a:ext cx="2715766" cy="388843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W kierunku komputera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57200" y="1567333"/>
            <a:ext cx="8229600" cy="4525963"/>
          </a:xfrm>
        </p:spPr>
        <p:txBody>
          <a:bodyPr/>
          <a:lstStyle/>
          <a:p>
            <a:r>
              <a:rPr lang="pl-PL" dirty="0" smtClean="0"/>
              <a:t>Komputer – </a:t>
            </a:r>
            <a:r>
              <a:rPr lang="pl-PL" i="1" dirty="0" smtClean="0"/>
              <a:t>osoba lub zespół osób zatrudnionych w celu przeprowadzenia obliczeń</a:t>
            </a:r>
            <a:r>
              <a:rPr lang="pl-PL" dirty="0" smtClean="0"/>
              <a:t> (definicja sprzed 70-ciu lat)</a:t>
            </a:r>
          </a:p>
          <a:p>
            <a:r>
              <a:rPr lang="pl-PL" dirty="0" smtClean="0"/>
              <a:t>Maszyna Turinga, 1936: zdolna rozwiązać dowolny rozwiązywalny problem obliczeniowy</a:t>
            </a:r>
          </a:p>
          <a:p>
            <a:r>
              <a:rPr lang="pl-PL" dirty="0" smtClean="0"/>
              <a:t>Test Turinga – spełnia je urządzenie, na którym można symulować maszynę Turinga</a:t>
            </a:r>
          </a:p>
          <a:p>
            <a:r>
              <a:rPr lang="pl-PL" dirty="0" smtClean="0"/>
              <a:t>Jest nim oczywiście współczesny komputer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W kierunku komputera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968552"/>
          </a:xfrm>
        </p:spPr>
        <p:txBody>
          <a:bodyPr>
            <a:normAutofit fontScale="92500"/>
          </a:bodyPr>
          <a:lstStyle/>
          <a:p>
            <a:r>
              <a:rPr lang="pl-PL" dirty="0" smtClean="0"/>
              <a:t>Kalkulator Pascala (</a:t>
            </a:r>
            <a:r>
              <a:rPr lang="pl-PL" dirty="0" err="1" smtClean="0"/>
              <a:t>Pascaline</a:t>
            </a:r>
            <a:r>
              <a:rPr lang="pl-PL" dirty="0" smtClean="0"/>
              <a:t>), 1642</a:t>
            </a:r>
          </a:p>
          <a:p>
            <a:endParaRPr lang="pl-PL" dirty="0" smtClean="0"/>
          </a:p>
          <a:p>
            <a:endParaRPr lang="pl-PL" dirty="0" smtClean="0"/>
          </a:p>
          <a:p>
            <a:endParaRPr lang="pl-PL" dirty="0" smtClean="0"/>
          </a:p>
          <a:p>
            <a:endParaRPr lang="pl-PL" dirty="0" smtClean="0"/>
          </a:p>
          <a:p>
            <a:endParaRPr lang="pl-PL" dirty="0" smtClean="0"/>
          </a:p>
          <a:p>
            <a:endParaRPr lang="pl-PL" dirty="0" smtClean="0"/>
          </a:p>
          <a:p>
            <a:endParaRPr lang="pl-PL" dirty="0" smtClean="0"/>
          </a:p>
          <a:p>
            <a:r>
              <a:rPr lang="pl-PL" dirty="0" smtClean="0"/>
              <a:t>Koło Leibniza, </a:t>
            </a:r>
            <a:r>
              <a:rPr lang="pl-PL" dirty="0" smtClean="0"/>
              <a:t>1673, użyte w </a:t>
            </a:r>
            <a:r>
              <a:rPr lang="pl-PL" smtClean="0"/>
              <a:t>kalkulatorze Leibniza</a:t>
            </a:r>
            <a:endParaRPr lang="pl-PL" dirty="0" smtClean="0"/>
          </a:p>
          <a:p>
            <a:endParaRPr lang="pl-PL" dirty="0" smtClean="0"/>
          </a:p>
          <a:p>
            <a:endParaRPr lang="pl-PL" dirty="0" smtClean="0"/>
          </a:p>
          <a:p>
            <a:endParaRPr lang="pl-PL" dirty="0" smtClean="0"/>
          </a:p>
          <a:p>
            <a:endParaRPr lang="pl-PL" dirty="0" smtClean="0"/>
          </a:p>
          <a:p>
            <a:pPr>
              <a:buNone/>
            </a:pPr>
            <a:endParaRPr lang="pl-PL" dirty="0" smtClean="0"/>
          </a:p>
          <a:p>
            <a:pPr>
              <a:buNone/>
            </a:pPr>
            <a:endParaRPr lang="pl-PL" dirty="0" smtClean="0"/>
          </a:p>
          <a:p>
            <a:pPr>
              <a:buNone/>
            </a:pPr>
            <a:endParaRPr lang="pl-PL" dirty="0" smtClean="0"/>
          </a:p>
          <a:p>
            <a:endParaRPr lang="pl-PL" dirty="0"/>
          </a:p>
        </p:txBody>
      </p:sp>
      <p:pic>
        <p:nvPicPr>
          <p:cNvPr id="4" name="Obraz 3" descr="Pascaline_-_top_view_and_mechanism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5576" y="2060848"/>
            <a:ext cx="4166510" cy="3501008"/>
          </a:xfrm>
          <a:prstGeom prst="rect">
            <a:avLst/>
          </a:prstGeom>
        </p:spPr>
      </p:pic>
      <p:pic>
        <p:nvPicPr>
          <p:cNvPr id="5" name="Obraz 4" descr="Cylindre_de_Leibniz_animé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84168" y="2924944"/>
            <a:ext cx="1714500" cy="1714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W kierunku komputera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525963"/>
          </a:xfrm>
        </p:spPr>
        <p:txBody>
          <a:bodyPr/>
          <a:lstStyle/>
          <a:p>
            <a:r>
              <a:rPr lang="pl-PL" dirty="0" smtClean="0"/>
              <a:t>Arytmometr (Thomas de Colmar), 1822 (1844)</a:t>
            </a:r>
            <a:endParaRPr lang="pl-PL" dirty="0"/>
          </a:p>
        </p:txBody>
      </p:sp>
      <p:pic>
        <p:nvPicPr>
          <p:cNvPr id="4" name="Obraz 3" descr="Arithmometer_-_One_of_the_first_machines_with_unique_serial_number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8762" y="2088976"/>
            <a:ext cx="6086475" cy="472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W kierunku komputera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Rozwinięte konstrukcje: arytmometr </a:t>
            </a:r>
            <a:r>
              <a:rPr lang="pl-PL" dirty="0" err="1" smtClean="0"/>
              <a:t>Odhnera</a:t>
            </a:r>
            <a:r>
              <a:rPr lang="pl-PL" dirty="0" smtClean="0"/>
              <a:t>, 1873 (1890)</a:t>
            </a:r>
            <a:endParaRPr lang="pl-PL" dirty="0"/>
          </a:p>
        </p:txBody>
      </p:sp>
      <p:pic>
        <p:nvPicPr>
          <p:cNvPr id="4" name="Obraz 3" descr="2014-06_BLM_Braunschweig_WMDE_(64)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39752" y="2973288"/>
            <a:ext cx="4572000" cy="319201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W kierunku komputera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Kasa mechaniczna (tu – 1904)</a:t>
            </a:r>
            <a:endParaRPr lang="pl-PL" dirty="0"/>
          </a:p>
        </p:txBody>
      </p:sp>
      <p:pic>
        <p:nvPicPr>
          <p:cNvPr id="4" name="Obraz 3" descr="Cash_register,_built_1904_in_Ohi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34343" y="2564904"/>
            <a:ext cx="4225889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W kierunku komputera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69371"/>
          </a:xfrm>
        </p:spPr>
        <p:txBody>
          <a:bodyPr/>
          <a:lstStyle/>
          <a:p>
            <a:r>
              <a:rPr lang="pl-PL" dirty="0" smtClean="0"/>
              <a:t>Charles Babbage – twórca pierwszego komputera (mechanicznego)</a:t>
            </a:r>
          </a:p>
          <a:p>
            <a:r>
              <a:rPr lang="pl-PL" dirty="0" smtClean="0"/>
              <a:t>1822 – projekt </a:t>
            </a:r>
            <a:r>
              <a:rPr lang="pl-PL" i="1" dirty="0" err="1" smtClean="0"/>
              <a:t>difference</a:t>
            </a:r>
            <a:r>
              <a:rPr lang="pl-PL" i="1" dirty="0" smtClean="0"/>
              <a:t> </a:t>
            </a:r>
            <a:r>
              <a:rPr lang="pl-PL" i="1" dirty="0" err="1" smtClean="0"/>
              <a:t>engine</a:t>
            </a:r>
            <a:r>
              <a:rPr lang="pl-PL" dirty="0" smtClean="0"/>
              <a:t>: 25 000 części, 13.6 ton, zbudowana … 1989-91.</a:t>
            </a:r>
          </a:p>
          <a:p>
            <a:endParaRPr lang="pl-PL" i="1" dirty="0"/>
          </a:p>
        </p:txBody>
      </p:sp>
      <p:pic>
        <p:nvPicPr>
          <p:cNvPr id="4" name="Obraz 3" descr="Babbage_Difference_Engine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32248" y="3429000"/>
            <a:ext cx="4572000" cy="330859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W kierunku komputera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l-PL" i="1" dirty="0" err="1" smtClean="0"/>
              <a:t>Analytical</a:t>
            </a:r>
            <a:r>
              <a:rPr lang="pl-PL" i="1" dirty="0" smtClean="0"/>
              <a:t> </a:t>
            </a:r>
            <a:r>
              <a:rPr lang="pl-PL" i="1" dirty="0" err="1" smtClean="0"/>
              <a:t>engine</a:t>
            </a:r>
            <a:r>
              <a:rPr lang="pl-PL" i="1" dirty="0" smtClean="0"/>
              <a:t> </a:t>
            </a:r>
            <a:r>
              <a:rPr lang="pl-PL" dirty="0" smtClean="0"/>
              <a:t>– 1833-1871 (do śmierci)</a:t>
            </a:r>
          </a:p>
          <a:p>
            <a:r>
              <a:rPr lang="pl-PL" dirty="0" smtClean="0"/>
              <a:t>Spełniała test Turinga!</a:t>
            </a:r>
          </a:p>
          <a:p>
            <a:r>
              <a:rPr lang="pl-PL" dirty="0" smtClean="0"/>
              <a:t>20+ „programów” w latach 1837-1840</a:t>
            </a:r>
          </a:p>
          <a:p>
            <a:r>
              <a:rPr lang="pl-PL" dirty="0" smtClean="0"/>
              <a:t>Ada </a:t>
            </a:r>
            <a:r>
              <a:rPr lang="pl-PL" dirty="0" err="1" smtClean="0"/>
              <a:t>Lovelance</a:t>
            </a:r>
            <a:r>
              <a:rPr lang="pl-PL" dirty="0" smtClean="0"/>
              <a:t>, pierwsza programistka komputerowa (liczby </a:t>
            </a:r>
            <a:r>
              <a:rPr lang="pl-PL" dirty="0" err="1" smtClean="0"/>
              <a:t>Bernouliego</a:t>
            </a:r>
            <a:r>
              <a:rPr lang="pl-PL" dirty="0" smtClean="0"/>
              <a:t>, 1843)</a:t>
            </a:r>
          </a:p>
          <a:p>
            <a:r>
              <a:rPr lang="pl-PL" dirty="0" smtClean="0"/>
              <a:t>„Plan 28” – projekt zasymulowania, a następnie zbudowania </a:t>
            </a:r>
            <a:r>
              <a:rPr lang="pl-PL" i="1" dirty="0" err="1" smtClean="0"/>
              <a:t>analytical</a:t>
            </a:r>
            <a:r>
              <a:rPr lang="pl-PL" i="1" dirty="0" smtClean="0"/>
              <a:t> </a:t>
            </a:r>
            <a:r>
              <a:rPr lang="pl-PL" i="1" dirty="0" err="1" smtClean="0"/>
              <a:t>engine</a:t>
            </a:r>
            <a:endParaRPr lang="pl-PL" i="1" dirty="0" smtClean="0"/>
          </a:p>
          <a:p>
            <a:r>
              <a:rPr lang="pl-PL" dirty="0" smtClean="0"/>
              <a:t>MEMS – współczesny komputer elektromechaniczny?  „</a:t>
            </a:r>
            <a:r>
              <a:rPr lang="pl-PL" i="1" dirty="0" err="1" smtClean="0"/>
              <a:t>Babbage's</a:t>
            </a:r>
            <a:r>
              <a:rPr lang="pl-PL" i="1" dirty="0" smtClean="0"/>
              <a:t> </a:t>
            </a:r>
            <a:r>
              <a:rPr lang="pl-PL" i="1" dirty="0" err="1"/>
              <a:t>Last</a:t>
            </a:r>
            <a:r>
              <a:rPr lang="pl-PL" i="1" dirty="0"/>
              <a:t> </a:t>
            </a:r>
            <a:r>
              <a:rPr lang="pl-PL" i="1" dirty="0" err="1" smtClean="0"/>
              <a:t>Laugh</a:t>
            </a:r>
            <a:r>
              <a:rPr lang="pl-PL" i="1" dirty="0" smtClean="0"/>
              <a:t>”</a:t>
            </a:r>
            <a:endParaRPr lang="pl-PL" dirty="0" smtClean="0"/>
          </a:p>
          <a:p>
            <a:endParaRPr lang="pl-PL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/>
          <p:cNvSpPr txBox="1"/>
          <p:nvPr/>
        </p:nvSpPr>
        <p:spPr>
          <a:xfrm>
            <a:off x="1115616" y="1916832"/>
            <a:ext cx="72728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As soon as an Analytical Engine exists, it will necessarily guide the future course of the science.</a:t>
            </a:r>
            <a:endParaRPr lang="pl-PL" sz="3600" b="1" dirty="0"/>
          </a:p>
        </p:txBody>
      </p:sp>
      <p:sp>
        <p:nvSpPr>
          <p:cNvPr id="8" name="pole tekstowe 7"/>
          <p:cNvSpPr txBox="1"/>
          <p:nvPr/>
        </p:nvSpPr>
        <p:spPr>
          <a:xfrm>
            <a:off x="3563888" y="4005064"/>
            <a:ext cx="44528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dirty="0" smtClean="0"/>
              <a:t>Charles </a:t>
            </a:r>
            <a:r>
              <a:rPr lang="pl-PL" sz="3600" dirty="0" err="1" smtClean="0"/>
              <a:t>Babbage</a:t>
            </a:r>
            <a:r>
              <a:rPr lang="pl-PL" sz="3600" dirty="0" smtClean="0"/>
              <a:t>, 1864</a:t>
            </a:r>
            <a:endParaRPr lang="pl-PL" sz="3600" dirty="0"/>
          </a:p>
        </p:txBody>
      </p:sp>
    </p:spTree>
    <p:extLst>
      <p:ext uri="{BB962C8B-B14F-4D97-AF65-F5344CB8AC3E}">
        <p14:creationId xmlns:p14="http://schemas.microsoft.com/office/powerpoint/2010/main" xmlns="" val="4120623910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</TotalTime>
  <Words>604</Words>
  <Application>Microsoft Office PowerPoint</Application>
  <PresentationFormat>Pokaz na ekranie (4:3)</PresentationFormat>
  <Paragraphs>117</Paragraphs>
  <Slides>25</Slides>
  <Notes>1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25</vt:i4>
      </vt:variant>
    </vt:vector>
  </HeadingPairs>
  <TitlesOfParts>
    <vt:vector size="26" baseType="lpstr">
      <vt:lpstr>Motyw pakietu Office</vt:lpstr>
      <vt:lpstr>Historia obliczania</vt:lpstr>
      <vt:lpstr>Plan</vt:lpstr>
      <vt:lpstr>Do wynalezienia zera</vt:lpstr>
      <vt:lpstr>Do wynalezienia zera</vt:lpstr>
      <vt:lpstr>Do wynalezienia zera</vt:lpstr>
      <vt:lpstr>Do wynalezienia zera</vt:lpstr>
      <vt:lpstr>Do wynalezienia zera</vt:lpstr>
      <vt:lpstr>Do wynalezienia zera</vt:lpstr>
      <vt:lpstr>Do wynalezienia zera</vt:lpstr>
      <vt:lpstr>Do wynalezienia zera</vt:lpstr>
      <vt:lpstr>Czym liczono</vt:lpstr>
      <vt:lpstr>Czym liczono</vt:lpstr>
      <vt:lpstr>Obliczanie analogowe</vt:lpstr>
      <vt:lpstr>Obliczenia analogowe</vt:lpstr>
      <vt:lpstr>Obliczenia analogowe</vt:lpstr>
      <vt:lpstr>Obliczenia analogowe</vt:lpstr>
      <vt:lpstr>Obliczenia analogowe</vt:lpstr>
      <vt:lpstr>W kierunku komputera</vt:lpstr>
      <vt:lpstr>W kierunku komputera</vt:lpstr>
      <vt:lpstr>W kierunku komputera</vt:lpstr>
      <vt:lpstr>W kierunku komputera</vt:lpstr>
      <vt:lpstr>W kierunku komputera</vt:lpstr>
      <vt:lpstr>W kierunku komputera</vt:lpstr>
      <vt:lpstr>W kierunku komputera</vt:lpstr>
      <vt:lpstr>Slajd 25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Historia obliczania</dc:title>
  <dc:creator>Ryszard Stasiński</dc:creator>
  <cp:lastModifiedBy>Ryszard Stasiński</cp:lastModifiedBy>
  <cp:revision>53</cp:revision>
  <dcterms:created xsi:type="dcterms:W3CDTF">2019-11-04T16:37:10Z</dcterms:created>
  <dcterms:modified xsi:type="dcterms:W3CDTF">2019-11-06T22:01:20Z</dcterms:modified>
</cp:coreProperties>
</file>